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3"/>
  </p:notesMasterIdLst>
  <p:sldIdLst>
    <p:sldId id="599" r:id="rId2"/>
    <p:sldId id="748" r:id="rId3"/>
    <p:sldId id="749" r:id="rId4"/>
    <p:sldId id="750" r:id="rId5"/>
    <p:sldId id="751" r:id="rId6"/>
    <p:sldId id="752" r:id="rId7"/>
    <p:sldId id="709" r:id="rId8"/>
    <p:sldId id="729" r:id="rId9"/>
    <p:sldId id="710" r:id="rId10"/>
    <p:sldId id="744" r:id="rId11"/>
    <p:sldId id="711" r:id="rId12"/>
    <p:sldId id="730" r:id="rId13"/>
    <p:sldId id="731" r:id="rId14"/>
    <p:sldId id="732" r:id="rId15"/>
    <p:sldId id="733" r:id="rId16"/>
    <p:sldId id="734" r:id="rId17"/>
    <p:sldId id="735" r:id="rId18"/>
    <p:sldId id="736" r:id="rId19"/>
    <p:sldId id="713" r:id="rId20"/>
    <p:sldId id="737" r:id="rId21"/>
    <p:sldId id="738" r:id="rId22"/>
    <p:sldId id="745" r:id="rId23"/>
    <p:sldId id="739" r:id="rId24"/>
    <p:sldId id="740" r:id="rId25"/>
    <p:sldId id="753" r:id="rId26"/>
    <p:sldId id="746" r:id="rId27"/>
    <p:sldId id="755" r:id="rId28"/>
    <p:sldId id="741" r:id="rId29"/>
    <p:sldId id="742" r:id="rId30"/>
    <p:sldId id="747" r:id="rId31"/>
    <p:sldId id="756" r:id="rId32"/>
  </p:sldIdLst>
  <p:sldSz cx="10693400" cy="7562850"/>
  <p:notesSz cx="10693400" cy="756285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90" y="-7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1854" y="-108"/>
      </p:cViewPr>
      <p:guideLst>
        <p:guide orient="horz" pos="2382"/>
        <p:guide pos="3368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3AC96-DF5B-4D36-9529-76CD80A923EE}" type="datetimeFigureOut">
              <a:rPr lang="fr-FR" smtClean="0"/>
              <a:pPr/>
              <a:t>02/10/2023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3538B-5E32-46A1-83B4-0AD6D36059E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099903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85080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0532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602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40749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82320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61802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78529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25644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23749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1051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69925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8410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25537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39464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01323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554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8857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900486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0460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2071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9101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878856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817685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93245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01062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072069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259715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862493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451305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67736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43EDE-23AE-4B3E-9196-6EDC10EC743B}" type="slidenum">
              <a:rPr kumimoji="0" lang="fr-F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677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7226723"/>
            <a:ext cx="10693400" cy="336127"/>
          </a:xfrm>
          <a:custGeom>
            <a:avLst/>
            <a:gdLst/>
            <a:ahLst/>
            <a:cxnLst/>
            <a:rect l="l" t="t" r="r" b="b"/>
            <a:pathLst>
              <a:path w="9144000" h="304800">
                <a:moveTo>
                  <a:pt x="0" y="304800"/>
                </a:moveTo>
                <a:lnTo>
                  <a:pt x="9144000" y="304800"/>
                </a:lnTo>
                <a:lnTo>
                  <a:pt x="91440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1985"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10693400" cy="1260475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1985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624061" y="7303841"/>
            <a:ext cx="905226" cy="173445"/>
          </a:xfrm>
          <a:prstGeom prst="rect">
            <a:avLst/>
          </a:prstGeom>
        </p:spPr>
        <p:txBody>
          <a:bodyPr lIns="0" tIns="0" rIns="0" bIns="0"/>
          <a:lstStyle>
            <a:lvl1pPr>
              <a:def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marL="205882">
              <a:lnSpc>
                <a:spcPts val="1461"/>
              </a:lnSpc>
            </a:pPr>
            <a:fld id="{81D60167-4931-47E6-BA6A-407CBD079E47}" type="slidenum">
              <a:rPr lang="fr-FR" smtClean="0"/>
              <a:pPr marL="205882">
                <a:lnSpc>
                  <a:spcPts val="1461"/>
                </a:lnSpc>
              </a:pPr>
              <a:t>‹N°›</a:t>
            </a:fld>
            <a:endParaRPr lang="fr-FR" dirty="0"/>
          </a:p>
        </p:txBody>
      </p:sp>
      <p:sp>
        <p:nvSpPr>
          <p:cNvPr id="8" name="bk object 17"/>
          <p:cNvSpPr/>
          <p:nvPr/>
        </p:nvSpPr>
        <p:spPr>
          <a:xfrm>
            <a:off x="0" y="1260475"/>
            <a:ext cx="10693400" cy="5966248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1985"/>
          </a:p>
        </p:txBody>
      </p:sp>
      <p:sp>
        <p:nvSpPr>
          <p:cNvPr id="11" name="Holder 2"/>
          <p:cNvSpPr>
            <a:spLocks noGrp="1"/>
          </p:cNvSpPr>
          <p:nvPr>
            <p:ph type="title" hasCustomPrompt="1"/>
          </p:nvPr>
        </p:nvSpPr>
        <p:spPr>
          <a:xfrm>
            <a:off x="448530" y="40896"/>
            <a:ext cx="9796341" cy="1081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29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r>
              <a:rPr lang="fr-FR" dirty="0"/>
              <a:t/>
            </a:r>
            <a:br>
              <a:rPr lang="fr-FR" dirty="0"/>
            </a:br>
            <a:endParaRPr dirty="0"/>
          </a:p>
        </p:txBody>
      </p:sp>
      <p:sp>
        <p:nvSpPr>
          <p:cNvPr id="12" name="Holder 3"/>
          <p:cNvSpPr>
            <a:spLocks noGrp="1"/>
          </p:cNvSpPr>
          <p:nvPr>
            <p:ph type="body" idx="1"/>
          </p:nvPr>
        </p:nvSpPr>
        <p:spPr>
          <a:xfrm>
            <a:off x="1" y="1260475"/>
            <a:ext cx="10693400" cy="475195"/>
          </a:xfrm>
        </p:spPr>
        <p:txBody>
          <a:bodyPr lIns="0" tIns="0" rIns="0" bIns="0"/>
          <a:lstStyle>
            <a:lvl1pPr>
              <a:defRPr sz="3088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 dirty="0"/>
          </a:p>
        </p:txBody>
      </p:sp>
      <p:sp>
        <p:nvSpPr>
          <p:cNvPr id="2" name="Holder 4">
            <a:extLst>
              <a:ext uri="{FF2B5EF4-FFF2-40B4-BE49-F238E27FC236}">
                <a16:creationId xmlns="" xmlns:a16="http://schemas.microsoft.com/office/drawing/2014/main" id="{9939B7EC-FD5C-46BB-9115-D8EC459A0104}"/>
              </a:ext>
            </a:extLst>
          </p:cNvPr>
          <p:cNvSpPr txBox="1">
            <a:spLocks/>
          </p:cNvSpPr>
          <p:nvPr userDrawn="1"/>
        </p:nvSpPr>
        <p:spPr>
          <a:xfrm>
            <a:off x="4176700" y="7309817"/>
            <a:ext cx="2340000" cy="166712"/>
          </a:xfrm>
          <a:prstGeom prst="rect">
            <a:avLst/>
          </a:prstGeom>
        </p:spPr>
        <p:txBody>
          <a:bodyPr lIns="0" tIns="0" rIns="0" bIns="0"/>
          <a:lstStyle>
            <a:defPPr>
              <a:defRPr lang="fr-FR"/>
            </a:defPPr>
            <a:lvl1pPr marL="0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20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38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56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74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94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14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832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51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3" marR="0" lvl="0" indent="0" algn="l" defTabSz="914238" rtl="0" eaLnBrk="1" fontAlgn="auto" latinLnBrk="0" hangingPunct="1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2023-2024 – 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ESPRIT – DevOps – GIT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410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0" y="7226723"/>
            <a:ext cx="10693400" cy="336127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0" y="1143000"/>
                </a:moveTo>
                <a:lnTo>
                  <a:pt x="9144000" y="1143000"/>
                </a:lnTo>
                <a:lnTo>
                  <a:pt x="91440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 sz="1985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530" y="40896"/>
            <a:ext cx="979634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594" y="1554306"/>
            <a:ext cx="1008221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 dirty="0"/>
          </a:p>
        </p:txBody>
      </p:sp>
      <p:sp>
        <p:nvSpPr>
          <p:cNvPr id="10" name="Holder 4"/>
          <p:cNvSpPr>
            <a:spLocks noGrp="1"/>
          </p:cNvSpPr>
          <p:nvPr>
            <p:ph type="sldNum" sz="quarter" idx="4"/>
          </p:nvPr>
        </p:nvSpPr>
        <p:spPr>
          <a:xfrm>
            <a:off x="9624061" y="7303841"/>
            <a:ext cx="905226" cy="173445"/>
          </a:xfrm>
          <a:prstGeom prst="rect">
            <a:avLst/>
          </a:prstGeom>
        </p:spPr>
        <p:txBody>
          <a:bodyPr lIns="0" tIns="0" rIns="0" bIns="0"/>
          <a:lstStyle>
            <a:lvl1pPr>
              <a:def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marL="205882">
              <a:lnSpc>
                <a:spcPts val="1461"/>
              </a:lnSpc>
            </a:pPr>
            <a:fld id="{81D60167-4931-47E6-BA6A-407CBD079E47}" type="slidenum">
              <a:rPr lang="fr-FR" smtClean="0"/>
              <a:pPr marL="205882">
                <a:lnSpc>
                  <a:spcPts val="1461"/>
                </a:lnSpc>
              </a:pPr>
              <a:t>‹N°›</a:t>
            </a:fld>
            <a:endParaRPr lang="fr-FR" dirty="0"/>
          </a:p>
        </p:txBody>
      </p:sp>
      <p:sp>
        <p:nvSpPr>
          <p:cNvPr id="7" name="Holder 4">
            <a:extLst>
              <a:ext uri="{FF2B5EF4-FFF2-40B4-BE49-F238E27FC236}">
                <a16:creationId xmlns="" xmlns:a16="http://schemas.microsoft.com/office/drawing/2014/main" id="{ED53063E-7405-434F-84F4-DB87A78EFE5E}"/>
              </a:ext>
            </a:extLst>
          </p:cNvPr>
          <p:cNvSpPr txBox="1">
            <a:spLocks/>
          </p:cNvSpPr>
          <p:nvPr userDrawn="1"/>
        </p:nvSpPr>
        <p:spPr>
          <a:xfrm>
            <a:off x="4176700" y="7309817"/>
            <a:ext cx="2340000" cy="166712"/>
          </a:xfrm>
          <a:prstGeom prst="rect">
            <a:avLst/>
          </a:prstGeom>
        </p:spPr>
        <p:txBody>
          <a:bodyPr lIns="0" tIns="0" rIns="0" bIns="0"/>
          <a:lstStyle>
            <a:defPPr>
              <a:defRPr lang="fr-FR"/>
            </a:defPPr>
            <a:lvl1pPr marL="0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20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38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56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74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94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14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832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51" algn="l" defTabSz="9142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3" marR="0" lvl="0" indent="0" algn="l" defTabSz="914238" rtl="0" eaLnBrk="1" fontAlgn="auto" latinLnBrk="0" hangingPunct="1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fr-FR" sz="1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2023-2024 </a:t>
            </a: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– ESPRIT – DevOps – GIT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988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04200">
        <a:defRPr>
          <a:latin typeface="+mn-lt"/>
          <a:ea typeface="+mn-ea"/>
          <a:cs typeface="+mn-cs"/>
        </a:defRPr>
      </a:lvl2pPr>
      <a:lvl3pPr marL="1008400">
        <a:defRPr>
          <a:latin typeface="+mn-lt"/>
          <a:ea typeface="+mn-ea"/>
          <a:cs typeface="+mn-cs"/>
        </a:defRPr>
      </a:lvl3pPr>
      <a:lvl4pPr marL="1512600">
        <a:defRPr>
          <a:latin typeface="+mn-lt"/>
          <a:ea typeface="+mn-ea"/>
          <a:cs typeface="+mn-cs"/>
        </a:defRPr>
      </a:lvl4pPr>
      <a:lvl5pPr marL="2016801">
        <a:defRPr>
          <a:latin typeface="+mn-lt"/>
          <a:ea typeface="+mn-ea"/>
          <a:cs typeface="+mn-cs"/>
        </a:defRPr>
      </a:lvl5pPr>
      <a:lvl6pPr marL="2521001">
        <a:defRPr>
          <a:latin typeface="+mn-lt"/>
          <a:ea typeface="+mn-ea"/>
          <a:cs typeface="+mn-cs"/>
        </a:defRPr>
      </a:lvl6pPr>
      <a:lvl7pPr marL="3025201">
        <a:defRPr>
          <a:latin typeface="+mn-lt"/>
          <a:ea typeface="+mn-ea"/>
          <a:cs typeface="+mn-cs"/>
        </a:defRPr>
      </a:lvl7pPr>
      <a:lvl8pPr marL="3529401">
        <a:defRPr>
          <a:latin typeface="+mn-lt"/>
          <a:ea typeface="+mn-ea"/>
          <a:cs typeface="+mn-cs"/>
        </a:defRPr>
      </a:lvl8pPr>
      <a:lvl9pPr marL="403360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04200">
        <a:defRPr>
          <a:latin typeface="+mn-lt"/>
          <a:ea typeface="+mn-ea"/>
          <a:cs typeface="+mn-cs"/>
        </a:defRPr>
      </a:lvl2pPr>
      <a:lvl3pPr marL="1008400">
        <a:defRPr>
          <a:latin typeface="+mn-lt"/>
          <a:ea typeface="+mn-ea"/>
          <a:cs typeface="+mn-cs"/>
        </a:defRPr>
      </a:lvl3pPr>
      <a:lvl4pPr marL="1512600">
        <a:defRPr>
          <a:latin typeface="+mn-lt"/>
          <a:ea typeface="+mn-ea"/>
          <a:cs typeface="+mn-cs"/>
        </a:defRPr>
      </a:lvl4pPr>
      <a:lvl5pPr marL="2016801">
        <a:defRPr>
          <a:latin typeface="+mn-lt"/>
          <a:ea typeface="+mn-ea"/>
          <a:cs typeface="+mn-cs"/>
        </a:defRPr>
      </a:lvl5pPr>
      <a:lvl6pPr marL="2521001">
        <a:defRPr>
          <a:latin typeface="+mn-lt"/>
          <a:ea typeface="+mn-ea"/>
          <a:cs typeface="+mn-cs"/>
        </a:defRPr>
      </a:lvl6pPr>
      <a:lvl7pPr marL="3025201">
        <a:defRPr>
          <a:latin typeface="+mn-lt"/>
          <a:ea typeface="+mn-ea"/>
          <a:cs typeface="+mn-cs"/>
        </a:defRPr>
      </a:lvl7pPr>
      <a:lvl8pPr marL="3529401">
        <a:defRPr>
          <a:latin typeface="+mn-lt"/>
          <a:ea typeface="+mn-ea"/>
          <a:cs typeface="+mn-cs"/>
        </a:defRPr>
      </a:lvl8pPr>
      <a:lvl9pPr marL="403360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hassini/timesheet-ci.g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uthentication/keeping-your-account-and-data-secure/creating-a-personal-access-token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GIT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034E4B99-0FE3-45D3-8428-01AC07FEC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" y="1492721"/>
            <a:ext cx="8572500" cy="4953000"/>
          </a:xfrm>
          <a:prstGeom prst="rect">
            <a:avLst/>
          </a:prstGeom>
        </p:spPr>
      </p:pic>
      <p:pic>
        <p:nvPicPr>
          <p:cNvPr id="4" name="Shape 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9840" y="1308240"/>
            <a:ext cx="3000399" cy="12587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649720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PLAN DU COURS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3048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fr-FR" sz="2800" dirty="0">
                <a:latin typeface="Century Gothic" pitchFamily="34" charset="0"/>
              </a:rPr>
              <a:t> </a:t>
            </a:r>
          </a:p>
          <a:p>
            <a:pPr lvl="1"/>
            <a:r>
              <a:rPr lang="fr-FR" sz="2800" dirty="0">
                <a:latin typeface="Century Gothic" pitchFamily="34" charset="0"/>
              </a:rPr>
              <a:t>Outils de Control de Version (CVS, SVN, </a:t>
            </a:r>
            <a:r>
              <a:rPr lang="fr-FR" sz="2800" b="1" dirty="0">
                <a:latin typeface="Century Gothic" pitchFamily="34" charset="0"/>
              </a:rPr>
              <a:t>GIT</a:t>
            </a:r>
            <a:r>
              <a:rPr lang="fr-FR" sz="2800" dirty="0">
                <a:latin typeface="Century Gothic" pitchFamily="34" charset="0"/>
              </a:rPr>
              <a:t>) </a:t>
            </a:r>
          </a:p>
          <a:p>
            <a:pPr lvl="1"/>
            <a:endParaRPr lang="fr-FR" sz="2800" dirty="0">
              <a:latin typeface="Century Gothic" pitchFamily="34" charset="0"/>
            </a:endParaRPr>
          </a:p>
          <a:p>
            <a:pPr lvl="1"/>
            <a:r>
              <a:rPr lang="fr-FR" sz="2800" dirty="0">
                <a:latin typeface="Century Gothic" pitchFamily="34" charset="0"/>
              </a:rPr>
              <a:t>Repositories Git (Local, Distant) </a:t>
            </a:r>
          </a:p>
          <a:p>
            <a:pPr lvl="1"/>
            <a:endParaRPr lang="fr-FR" sz="2800" dirty="0">
              <a:latin typeface="Century Gothic" pitchFamily="34" charset="0"/>
            </a:endParaRPr>
          </a:p>
          <a:p>
            <a:pPr lvl="1"/>
            <a:r>
              <a:rPr lang="fr-FR" sz="2800" dirty="0">
                <a:latin typeface="Century Gothic" pitchFamily="34" charset="0"/>
              </a:rPr>
              <a:t>Commandes GIT avec Git Bash </a:t>
            </a:r>
          </a:p>
          <a:p>
            <a:pPr lvl="1"/>
            <a:endParaRPr lang="fr-FR" sz="2800" dirty="0">
              <a:latin typeface="Century Gothic" pitchFamily="34" charset="0"/>
            </a:endParaRPr>
          </a:p>
          <a:p>
            <a:pPr lvl="1"/>
            <a:r>
              <a:rPr lang="fr-FR" sz="2800" dirty="0">
                <a:latin typeface="Century Gothic" pitchFamily="34" charset="0"/>
              </a:rPr>
              <a:t>Commandes Git avec une IDE </a:t>
            </a:r>
          </a:p>
          <a:p>
            <a:pPr lvl="1"/>
            <a:endParaRPr lang="fr-FR" sz="2800" dirty="0">
              <a:latin typeface="Century Gothic" pitchFamily="34" charset="0"/>
            </a:endParaRPr>
          </a:p>
          <a:p>
            <a:pPr lvl="1"/>
            <a:r>
              <a:rPr lang="fr-FR" sz="2800" dirty="0">
                <a:latin typeface="Century Gothic" pitchFamily="34" charset="0"/>
              </a:rPr>
              <a:t>Projet : Travail en Equipe (Ajouter / Récupérer un Projet de GitHub, Branches, Conflit, …)  </a:t>
            </a:r>
          </a:p>
          <a:p>
            <a:pPr lvl="1"/>
            <a:endParaRPr lang="fr-FR" sz="28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6409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lvl="1" algn="ctr"/>
            <a:r>
              <a:rPr lang="fr-FR" sz="3200" dirty="0">
                <a:latin typeface="Century Gothic" pitchFamily="34" charset="0"/>
              </a:rPr>
              <a:t>Outils de Control de Version (CVS, SVN, GIT)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3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3048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endParaRPr lang="fr-FR" sz="2800" spc="-6" dirty="0">
              <a:latin typeface="Century Gothic"/>
            </a:endParaRPr>
          </a:p>
          <a:p>
            <a:pPr>
              <a:buFont typeface="Arial" pitchFamily="34" charset="0"/>
              <a:buNone/>
            </a:pPr>
            <a:endParaRPr lang="fr-FR" sz="2800" spc="-6" dirty="0">
              <a:latin typeface="Century Gothic"/>
            </a:endParaRPr>
          </a:p>
          <a:p>
            <a:r>
              <a:rPr lang="fr-FR" sz="2800" dirty="0">
                <a:latin typeface="Century Gothic" pitchFamily="34" charset="0"/>
              </a:rPr>
              <a:t>Outils de control de version : versionner, historiser, faire travail l’équipe ensemble, traçabilité, …. </a:t>
            </a:r>
          </a:p>
          <a:p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Exemples : CVS,  SVN, GIT  </a:t>
            </a:r>
          </a:p>
          <a:p>
            <a:pPr marL="0" indent="0">
              <a:buNone/>
            </a:pPr>
            <a:r>
              <a:rPr lang="fr-FR" sz="2800" dirty="0">
                <a:latin typeface="Century Gothic" pitchFamily="34" charset="0"/>
              </a:rPr>
              <a:t> </a:t>
            </a:r>
          </a:p>
          <a:p>
            <a:r>
              <a:rPr lang="fr-FR" sz="2800" dirty="0">
                <a:latin typeface="Century Gothic" pitchFamily="34" charset="0"/>
              </a:rPr>
              <a:t>Git présente un avantage majeur qui a fait que c’est l’outil le plus utilisé maintenant : </a:t>
            </a:r>
          </a:p>
        </p:txBody>
      </p:sp>
    </p:spTree>
    <p:extLst>
      <p:ext uri="{BB962C8B-B14F-4D97-AF65-F5344CB8AC3E}">
        <p14:creationId xmlns="" xmlns:p14="http://schemas.microsoft.com/office/powerpoint/2010/main" val="1948350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4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3048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endParaRPr lang="fr-FR" sz="2800" spc="-6" dirty="0">
              <a:latin typeface="Century Gothic"/>
            </a:endParaRPr>
          </a:p>
          <a:p>
            <a:endParaRPr lang="fr-FR" sz="2800" dirty="0">
              <a:latin typeface="Century Gothic" pitchFamily="34" charset="0"/>
            </a:endParaRPr>
          </a:p>
          <a:p>
            <a:r>
              <a:rPr lang="fr-FR" sz="2800" b="1" dirty="0">
                <a:latin typeface="Century Gothic" pitchFamily="34" charset="0"/>
              </a:rPr>
              <a:t>Git</a:t>
            </a:r>
            <a:r>
              <a:rPr lang="fr-FR" sz="2800" dirty="0">
                <a:latin typeface="Century Gothic" pitchFamily="34" charset="0"/>
              </a:rPr>
              <a:t> est un système de contrôle de version </a:t>
            </a:r>
            <a:r>
              <a:rPr lang="fr-FR" sz="2800" b="1" dirty="0">
                <a:latin typeface="Century Gothic" pitchFamily="34" charset="0"/>
              </a:rPr>
              <a:t>distribué </a:t>
            </a:r>
            <a:r>
              <a:rPr lang="fr-FR" sz="2800" dirty="0">
                <a:latin typeface="Century Gothic" pitchFamily="34" charset="0"/>
              </a:rPr>
              <a:t>gratuit et open source conçu pour tout gérer (historique, traçabilité des modifications, </a:t>
            </a:r>
            <a:r>
              <a:rPr lang="fr-FR" sz="2800" dirty="0" err="1">
                <a:latin typeface="Century Gothic" pitchFamily="34" charset="0"/>
              </a:rPr>
              <a:t>versionning</a:t>
            </a:r>
            <a:r>
              <a:rPr lang="fr-FR" sz="2800" dirty="0">
                <a:latin typeface="Century Gothic" pitchFamily="34" charset="0"/>
              </a:rPr>
              <a:t>, travail en équipe, …), des petits projets aux très grands projets avec rapidité et efficacité. </a:t>
            </a: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endParaRPr lang="fr-FR" sz="28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5335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Repositories 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5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106934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 dirty="0">
              <a:latin typeface="Century Gothic" pitchFamily="34" charset="0"/>
            </a:endParaRPr>
          </a:p>
          <a:p>
            <a:r>
              <a:rPr lang="fr-FR" sz="2400" dirty="0">
                <a:latin typeface="Century Gothic" pitchFamily="34" charset="0"/>
              </a:rPr>
              <a:t>Local : .git </a:t>
            </a:r>
          </a:p>
          <a:p>
            <a:pPr marL="0" indent="0">
              <a:buNone/>
            </a:pPr>
            <a:r>
              <a:rPr lang="fr-FR" sz="2400" dirty="0">
                <a:latin typeface="Century Gothic" pitchFamily="34" charset="0"/>
              </a:rPr>
              <a:t> </a:t>
            </a:r>
          </a:p>
          <a:p>
            <a:endParaRPr lang="fr-FR" sz="2400" dirty="0">
              <a:latin typeface="Century Gothic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AB018E0-8035-4FB0-9106-1617056E7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524" y="1333153"/>
            <a:ext cx="5329938" cy="57606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8476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Repositories 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6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106934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 dirty="0">
              <a:latin typeface="Century Gothic" pitchFamily="34" charset="0"/>
            </a:endParaRPr>
          </a:p>
          <a:p>
            <a:r>
              <a:rPr lang="fr-FR" sz="2400" dirty="0">
                <a:latin typeface="Century Gothic" pitchFamily="34" charset="0"/>
              </a:rPr>
              <a:t>Distant : </a:t>
            </a:r>
            <a:r>
              <a:rPr lang="fr-FR" sz="2400" dirty="0" err="1">
                <a:latin typeface="Century Gothic" pitchFamily="34" charset="0"/>
              </a:rPr>
              <a:t>Github</a:t>
            </a:r>
            <a:r>
              <a:rPr lang="fr-FR" sz="2400" dirty="0">
                <a:latin typeface="Century Gothic" pitchFamily="34" charset="0"/>
              </a:rPr>
              <a:t>, </a:t>
            </a:r>
            <a:r>
              <a:rPr lang="fr-FR" sz="2400" dirty="0" err="1">
                <a:latin typeface="Century Gothic" pitchFamily="34" charset="0"/>
              </a:rPr>
              <a:t>Gitlab</a:t>
            </a:r>
            <a:r>
              <a:rPr lang="fr-FR" sz="2400" dirty="0">
                <a:latin typeface="Century Gothic" pitchFamily="34" charset="0"/>
              </a:rPr>
              <a:t>, </a:t>
            </a:r>
            <a:r>
              <a:rPr lang="fr-FR" sz="2400" dirty="0" err="1">
                <a:latin typeface="Century Gothic" pitchFamily="34" charset="0"/>
              </a:rPr>
              <a:t>Bitbucket</a:t>
            </a:r>
            <a:r>
              <a:rPr lang="fr-FR" sz="2400" dirty="0">
                <a:latin typeface="Century Gothic" pitchFamily="34" charset="0"/>
              </a:rPr>
              <a:t>, …</a:t>
            </a:r>
          </a:p>
          <a:p>
            <a:endParaRPr lang="fr-FR" sz="2400" dirty="0">
              <a:latin typeface="Century Gothic" pitchFamily="34" charset="0"/>
            </a:endParaRPr>
          </a:p>
          <a:p>
            <a:r>
              <a:rPr lang="fr-FR" sz="2400" dirty="0">
                <a:latin typeface="Century Gothic" pitchFamily="34" charset="0"/>
              </a:rPr>
              <a:t>Créer un compte sur </a:t>
            </a:r>
            <a:r>
              <a:rPr lang="fr-FR" sz="2400" dirty="0" err="1">
                <a:latin typeface="Century Gothic" pitchFamily="34" charset="0"/>
              </a:rPr>
              <a:t>Github</a:t>
            </a:r>
            <a:r>
              <a:rPr lang="fr-FR" sz="2400" dirty="0">
                <a:latin typeface="Century Gothic" pitchFamily="34" charset="0"/>
              </a:rPr>
              <a:t> : github.com </a:t>
            </a:r>
          </a:p>
          <a:p>
            <a:endParaRPr lang="fr-FR" sz="2400" dirty="0">
              <a:latin typeface="Century Gothic" pitchFamily="34" charset="0"/>
            </a:endParaRPr>
          </a:p>
          <a:p>
            <a:endParaRPr lang="fr-FR" sz="2400" dirty="0">
              <a:latin typeface="Century Gothic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13E57F4-4386-4FD2-959E-2DE5358FF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350" y="3051001"/>
            <a:ext cx="6362700" cy="4114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9151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Initialisation de 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7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106934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Installer Git à partir du </a:t>
            </a:r>
            <a:r>
              <a:rPr lang="fr-FR" sz="2800" dirty="0" smtClean="0">
                <a:latin typeface="Century Gothic" pitchFamily="34" charset="0"/>
              </a:rPr>
              <a:t>site </a:t>
            </a:r>
            <a:r>
              <a:rPr lang="fr-FR" sz="2800" dirty="0">
                <a:latin typeface="Century Gothic" pitchFamily="34" charset="0"/>
              </a:rPr>
              <a:t>officiel </a:t>
            </a:r>
            <a:r>
              <a:rPr lang="fr-FR" sz="2800" b="1" dirty="0" smtClean="0">
                <a:latin typeface="Century Gothic" pitchFamily="34" charset="0"/>
                <a:hlinkClick r:id="rId3"/>
              </a:rPr>
              <a:t>https://git-scm.com</a:t>
            </a:r>
            <a:r>
              <a:rPr lang="fr-FR" sz="2800" b="1" dirty="0" smtClean="0">
                <a:latin typeface="Century Gothic" pitchFamily="34" charset="0"/>
              </a:rPr>
              <a:t> </a:t>
            </a:r>
            <a:r>
              <a:rPr lang="fr-FR" sz="2800" dirty="0" smtClean="0">
                <a:latin typeface="Century Gothic" pitchFamily="34" charset="0"/>
              </a:rPr>
              <a:t> </a:t>
            </a:r>
            <a:endParaRPr lang="fr-FR" sz="2800" dirty="0">
              <a:latin typeface="Century Gothic" pitchFamily="34" charset="0"/>
            </a:endParaRPr>
          </a:p>
          <a:p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SCM : Source Control Management</a:t>
            </a:r>
          </a:p>
          <a:p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Ouvrir </a:t>
            </a:r>
            <a:r>
              <a:rPr lang="fr-FR" sz="2800" b="1" dirty="0">
                <a:latin typeface="Century Gothic" pitchFamily="34" charset="0"/>
              </a:rPr>
              <a:t>Git Bash</a:t>
            </a:r>
            <a:r>
              <a:rPr lang="fr-FR" sz="2800" dirty="0">
                <a:latin typeface="Century Gothic" pitchFamily="34" charset="0"/>
              </a:rPr>
              <a:t> et lancer </a:t>
            </a:r>
            <a:r>
              <a:rPr lang="fr-FR" sz="2800" b="1" dirty="0">
                <a:latin typeface="Century Gothic" pitchFamily="34" charset="0"/>
              </a:rPr>
              <a:t>git --version</a:t>
            </a:r>
            <a:r>
              <a:rPr lang="fr-FR" sz="2800" dirty="0">
                <a:latin typeface="Century Gothic" pitchFamily="34" charset="0"/>
              </a:rPr>
              <a:t> pour vérifier que Git est bien installé : </a:t>
            </a:r>
          </a:p>
          <a:p>
            <a:endParaRPr lang="fr-FR" sz="2800" dirty="0">
              <a:latin typeface="Century Gothic" pitchFamily="34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Mourad HASSINI@M104 </a:t>
            </a:r>
            <a:r>
              <a:rPr lang="fr-FR" sz="1800" dirty="0">
                <a:solidFill>
                  <a:srgbClr val="BF00BF"/>
                </a:solidFill>
                <a:latin typeface="Lucida Console" panose="020B0609040504020204" pitchFamily="49" charset="0"/>
              </a:rPr>
              <a:t>MINGW64 </a:t>
            </a: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~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--version</a:t>
            </a:r>
          </a:p>
          <a:p>
            <a:pPr marL="400050" lvl="1" indent="0">
              <a:buNone/>
            </a:pPr>
            <a:r>
              <a:rPr lang="de-DE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de-DE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de-DE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version</a:t>
            </a:r>
            <a:r>
              <a:rPr lang="de-DE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2.16.2.windows.1</a:t>
            </a:r>
          </a:p>
          <a:p>
            <a:endParaRPr lang="fr-FR" sz="28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2514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Initialisation de 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8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3048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Toujours sur Git Bash, définir ton identité, avec </a:t>
            </a:r>
            <a:r>
              <a:rPr lang="fr-FR" sz="2800" b="1" dirty="0">
                <a:latin typeface="Century Gothic" pitchFamily="34" charset="0"/>
              </a:rPr>
              <a:t>git config</a:t>
            </a:r>
            <a:r>
              <a:rPr lang="fr-FR" sz="2800" dirty="0">
                <a:latin typeface="Century Gothic" pitchFamily="34" charset="0"/>
              </a:rPr>
              <a:t>, pour éviter que Git vous demande cela à chaque action</a:t>
            </a:r>
          </a:p>
          <a:p>
            <a:endParaRPr lang="fr-FR" sz="2800" dirty="0">
              <a:latin typeface="Century Gothic" pitchFamily="34" charset="0"/>
            </a:endParaRPr>
          </a:p>
          <a:p>
            <a:pPr marL="0" indent="0">
              <a:buNone/>
            </a:pPr>
            <a:r>
              <a:rPr lang="fr-FR" dirty="0">
                <a:solidFill>
                  <a:prstClr val="black"/>
                </a:solidFill>
                <a:latin typeface="Lucida Console" panose="020B0609040504020204" pitchFamily="49" charset="0"/>
              </a:rPr>
              <a:t>   </a:t>
            </a:r>
            <a:r>
              <a:rPr lang="fr-F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20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config</a:t>
            </a:r>
            <a:r>
              <a:rPr lang="fr-F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 --</a:t>
            </a:r>
            <a:r>
              <a:rPr lang="fr-FR" sz="20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list</a:t>
            </a:r>
            <a:endParaRPr lang="fr-FR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config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--global user.name "Mourad HASSINI"</a:t>
            </a: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config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--global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user.email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"mourad.hassini@esprit.tn"</a:t>
            </a:r>
            <a:endParaRPr lang="fr-FR" sz="28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1614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Initialisation de 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9</a:t>
            </a:fld>
            <a:endParaRPr sz="1200" dirty="0"/>
          </a:p>
        </p:txBody>
      </p:sp>
      <p:sp>
        <p:nvSpPr>
          <p:cNvPr id="7" name="Rectangle 6"/>
          <p:cNvSpPr>
            <a:spLocks noGrp="1" noChangeArrowheads="1"/>
          </p:cNvSpPr>
          <p:nvPr/>
        </p:nvSpPr>
        <p:spPr>
          <a:xfrm>
            <a:off x="0" y="1283393"/>
            <a:ext cx="7989905" cy="4641172"/>
          </a:xfrm>
          <a:prstGeom prst="rect">
            <a:avLst/>
          </a:prstGeom>
        </p:spPr>
        <p:txBody>
          <a:bodyPr vert="horz" lIns="100838" tIns="50419" rIns="100838" bIns="50419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sz="2200" dirty="0" smtClean="0">
                <a:latin typeface="Century Gothic" pitchFamily="34" charset="0"/>
              </a:rPr>
              <a:t>	</a:t>
            </a:r>
          </a:p>
          <a:p>
            <a:pPr>
              <a:buNone/>
            </a:pPr>
            <a:r>
              <a:rPr lang="fr-FR" sz="2200" dirty="0" smtClean="0">
                <a:latin typeface="Century Gothic" pitchFamily="34" charset="0"/>
              </a:rPr>
              <a:t>	Chacun fera les manipulations sur un exemple de projet simple se trouvant dans votre workspace IntelliJ. </a:t>
            </a:r>
          </a:p>
          <a:p>
            <a:pPr>
              <a:buNone/>
            </a:pPr>
            <a:endParaRPr lang="fr-FR" sz="2200" dirty="0" smtClean="0">
              <a:latin typeface="Century Gothic" pitchFamily="34" charset="0"/>
            </a:endParaRPr>
          </a:p>
          <a:p>
            <a:pPr>
              <a:buNone/>
            </a:pPr>
            <a:r>
              <a:rPr lang="fr-FR" sz="2200" dirty="0" smtClean="0">
                <a:latin typeface="Century Gothic" pitchFamily="34" charset="0"/>
              </a:rPr>
              <a:t>	Vous pouvez sinon utiliser le projet simple </a:t>
            </a:r>
            <a:r>
              <a:rPr lang="fr-FR" sz="2200" dirty="0" err="1" smtClean="0">
                <a:latin typeface="Century Gothic" pitchFamily="34" charset="0"/>
              </a:rPr>
              <a:t>timesheet</a:t>
            </a:r>
            <a:r>
              <a:rPr lang="fr-FR" sz="2200" dirty="0" smtClean="0">
                <a:latin typeface="Century Gothic" pitchFamily="34" charset="0"/>
              </a:rPr>
              <a:t>-</a:t>
            </a:r>
            <a:r>
              <a:rPr lang="fr-FR" sz="2200" dirty="0" err="1" smtClean="0">
                <a:latin typeface="Century Gothic" pitchFamily="34" charset="0"/>
              </a:rPr>
              <a:t>devops</a:t>
            </a:r>
            <a:r>
              <a:rPr lang="fr-FR" sz="2200" dirty="0" smtClean="0">
                <a:latin typeface="Century Gothic" pitchFamily="34" charset="0"/>
              </a:rPr>
              <a:t> se trouvant dans le Drive (téléchargez-le et </a:t>
            </a:r>
            <a:r>
              <a:rPr lang="fr-FR" sz="2200" dirty="0" err="1" smtClean="0">
                <a:latin typeface="Century Gothic" pitchFamily="34" charset="0"/>
              </a:rPr>
              <a:t>dézippez</a:t>
            </a:r>
            <a:r>
              <a:rPr lang="fr-FR" sz="2200" dirty="0" smtClean="0">
                <a:latin typeface="Century Gothic" pitchFamily="34" charset="0"/>
              </a:rPr>
              <a:t> le dans votre workspace IntelliJ).   </a:t>
            </a:r>
          </a:p>
          <a:p>
            <a:endParaRPr lang="fr-FR" sz="2200" dirty="0">
              <a:latin typeface="Century Gothic" pitchFamily="34" charset="0"/>
            </a:endParaRPr>
          </a:p>
          <a:p>
            <a:pPr>
              <a:buNone/>
            </a:pPr>
            <a:r>
              <a:rPr lang="fr-FR" sz="2200" dirty="0" smtClean="0">
                <a:latin typeface="Century Gothic" pitchFamily="34" charset="0"/>
              </a:rPr>
              <a:t>	Seuls </a:t>
            </a:r>
            <a:r>
              <a:rPr lang="fr-FR" sz="2200" dirty="0">
                <a:latin typeface="Century Gothic" pitchFamily="34" charset="0"/>
              </a:rPr>
              <a:t>le dossier </a:t>
            </a:r>
            <a:r>
              <a:rPr lang="fr-FR" sz="2200" b="1" dirty="0">
                <a:latin typeface="Century Gothic" pitchFamily="34" charset="0"/>
              </a:rPr>
              <a:t>src</a:t>
            </a:r>
            <a:r>
              <a:rPr lang="fr-FR" sz="2200" dirty="0">
                <a:latin typeface="Century Gothic" pitchFamily="34" charset="0"/>
              </a:rPr>
              <a:t> et le fichier </a:t>
            </a:r>
            <a:r>
              <a:rPr lang="fr-FR" sz="2200" b="1" dirty="0">
                <a:latin typeface="Century Gothic" pitchFamily="34" charset="0"/>
              </a:rPr>
              <a:t>pom.xml</a:t>
            </a:r>
            <a:r>
              <a:rPr lang="fr-FR" sz="2200" dirty="0">
                <a:latin typeface="Century Gothic" pitchFamily="34" charset="0"/>
              </a:rPr>
              <a:t> </a:t>
            </a:r>
            <a:r>
              <a:rPr lang="fr-FR" sz="2200" dirty="0" smtClean="0">
                <a:latin typeface="Century Gothic" pitchFamily="34" charset="0"/>
              </a:rPr>
              <a:t>seront gérés par Git </a:t>
            </a:r>
            <a:r>
              <a:rPr lang="fr-FR" sz="2200" dirty="0">
                <a:latin typeface="Century Gothic" pitchFamily="34" charset="0"/>
              </a:rPr>
              <a:t>: 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5609" y="1304663"/>
            <a:ext cx="2786065" cy="5834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6770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Initialisation de 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10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3048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Aller dans le projet timesheet-</a:t>
            </a:r>
            <a:r>
              <a:rPr lang="fr-FR" sz="2800" dirty="0" err="1">
                <a:latin typeface="Century Gothic" pitchFamily="34" charset="0"/>
              </a:rPr>
              <a:t>devops</a:t>
            </a:r>
            <a:r>
              <a:rPr lang="fr-FR" sz="2800" dirty="0">
                <a:latin typeface="Century Gothic" pitchFamily="34" charset="0"/>
              </a:rPr>
              <a:t> déjà existant sur votre workspace, et initialiser Git pour pouvoir l’utiliser sur ce projet (</a:t>
            </a:r>
            <a:r>
              <a:rPr lang="fr-FR" sz="2800" b="1" dirty="0">
                <a:latin typeface="Century Gothic" pitchFamily="34" charset="0"/>
              </a:rPr>
              <a:t>git init</a:t>
            </a:r>
            <a:r>
              <a:rPr lang="fr-FR" sz="2800" dirty="0">
                <a:latin typeface="Century Gothic" pitchFamily="34" charset="0"/>
              </a:rPr>
              <a:t> puis </a:t>
            </a:r>
            <a:r>
              <a:rPr lang="fr-FR" sz="2800" b="1" dirty="0">
                <a:latin typeface="Century Gothic" pitchFamily="34" charset="0"/>
              </a:rPr>
              <a:t>git </a:t>
            </a:r>
            <a:r>
              <a:rPr lang="fr-FR" sz="2800" b="1" dirty="0" err="1">
                <a:latin typeface="Century Gothic" pitchFamily="34" charset="0"/>
              </a:rPr>
              <a:t>status</a:t>
            </a:r>
            <a:r>
              <a:rPr lang="fr-FR" sz="2800" dirty="0">
                <a:latin typeface="Century Gothic" pitchFamily="34" charset="0"/>
              </a:rPr>
              <a:t>) : </a:t>
            </a:r>
          </a:p>
          <a:p>
            <a:endParaRPr lang="fr-FR" sz="2800" dirty="0">
              <a:latin typeface="Century Gothic" pitchFamily="34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cd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C:</a:t>
            </a:r>
            <a:r>
              <a:rPr lang="en-US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Work</a:t>
            </a:r>
            <a:r>
              <a:rPr lang="en-US" sz="1800" b="1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workspace-intellij</a:t>
            </a:r>
            <a:r>
              <a:rPr lang="en-US" sz="1800" b="1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timesheet-devops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BFBF00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init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Initialized empty Git repository in C:/</a:t>
            </a:r>
            <a:r>
              <a:rPr lang="en-US" sz="1800" dirty="0" smtClean="0">
                <a:solidFill>
                  <a:prstClr val="black"/>
                </a:solidFill>
                <a:latin typeface="Lucida Console" panose="020B0609040504020204" pitchFamily="49" charset="0"/>
              </a:rPr>
              <a:t>Work/workspace-intellij/timesheet-devops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/.git/ </a:t>
            </a: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</a:p>
          <a:p>
            <a:pPr marL="400050" lvl="1" indent="0">
              <a:buNone/>
            </a:pP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status</a:t>
            </a:r>
            <a:endParaRPr lang="fr-FR" sz="18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nothing added to commit but untracked files present (use "git add" to track) </a:t>
            </a:r>
            <a:endParaRPr lang="fr-FR" sz="28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37842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 Commit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11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Sélectionner les fichiers à </a:t>
            </a:r>
            <a:r>
              <a:rPr lang="fr-FR" sz="2800" dirty="0" err="1">
                <a:latin typeface="Century Gothic" pitchFamily="34" charset="0"/>
              </a:rPr>
              <a:t>commiter</a:t>
            </a:r>
            <a:r>
              <a:rPr lang="fr-FR" sz="2800" dirty="0">
                <a:latin typeface="Century Gothic" pitchFamily="34" charset="0"/>
              </a:rPr>
              <a:t> (dossier src et fichier pom.xml uniquement) avec la commande </a:t>
            </a:r>
            <a:r>
              <a:rPr lang="fr-FR" sz="2800" b="1" dirty="0">
                <a:latin typeface="Century Gothic" pitchFamily="34" charset="0"/>
              </a:rPr>
              <a:t>git </a:t>
            </a:r>
            <a:r>
              <a:rPr lang="fr-FR" sz="2800" b="1" dirty="0" err="1">
                <a:latin typeface="Century Gothic" pitchFamily="34" charset="0"/>
              </a:rPr>
              <a:t>add</a:t>
            </a:r>
            <a:r>
              <a:rPr lang="fr-FR" sz="2800" dirty="0">
                <a:latin typeface="Century Gothic" pitchFamily="34" charset="0"/>
              </a:rPr>
              <a:t> </a:t>
            </a:r>
          </a:p>
          <a:p>
            <a:r>
              <a:rPr lang="fr-FR" sz="2800" dirty="0">
                <a:latin typeface="Century Gothic" pitchFamily="34" charset="0"/>
              </a:rPr>
              <a:t>Puis un </a:t>
            </a:r>
            <a:r>
              <a:rPr lang="fr-FR" sz="2800" b="1" dirty="0">
                <a:latin typeface="Century Gothic" pitchFamily="34" charset="0"/>
              </a:rPr>
              <a:t>git </a:t>
            </a:r>
            <a:r>
              <a:rPr lang="fr-FR" sz="2800" b="1" dirty="0" err="1">
                <a:latin typeface="Century Gothic" pitchFamily="34" charset="0"/>
              </a:rPr>
              <a:t>status</a:t>
            </a:r>
            <a:r>
              <a:rPr lang="fr-FR" sz="2800" dirty="0">
                <a:latin typeface="Century Gothic" pitchFamily="34" charset="0"/>
              </a:rPr>
              <a:t> </a:t>
            </a:r>
          </a:p>
          <a:p>
            <a:r>
              <a:rPr lang="fr-FR" sz="2800" dirty="0">
                <a:latin typeface="Century Gothic" pitchFamily="34" charset="0"/>
              </a:rPr>
              <a:t>Puis faire un </a:t>
            </a:r>
            <a:r>
              <a:rPr lang="fr-FR" sz="2800" b="1" dirty="0">
                <a:latin typeface="Century Gothic" pitchFamily="34" charset="0"/>
              </a:rPr>
              <a:t>git commit</a:t>
            </a:r>
            <a:r>
              <a:rPr lang="fr-FR" sz="2800" dirty="0">
                <a:latin typeface="Century Gothic" pitchFamily="34" charset="0"/>
              </a:rPr>
              <a:t> . Cela revient à dire à Git de prendre une photo de ton projet. </a:t>
            </a:r>
          </a:p>
          <a:p>
            <a:endParaRPr lang="fr-FR" sz="2800" dirty="0">
              <a:latin typeface="Century Gothic" pitchFamily="34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add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pom.xml src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status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</a:p>
          <a:p>
            <a:pPr marL="400050" lvl="1" indent="0">
              <a:buNone/>
            </a:pPr>
            <a:endParaRPr lang="en-US" sz="2200" dirty="0">
              <a:latin typeface="Century Gothic" pitchFamily="34" charset="0"/>
            </a:endParaRPr>
          </a:p>
          <a:p>
            <a:pPr marL="400050" lvl="1" indent="0">
              <a:buNone/>
            </a:pPr>
            <a:r>
              <a:rPr lang="en-US" sz="2400" dirty="0">
                <a:latin typeface="Century Gothic" pitchFamily="34" charset="0"/>
              </a:rPr>
              <a:t>(ne pas </a:t>
            </a:r>
            <a:r>
              <a:rPr lang="en-US" sz="2400" dirty="0" err="1">
                <a:latin typeface="Century Gothic" pitchFamily="34" charset="0"/>
              </a:rPr>
              <a:t>inclure</a:t>
            </a:r>
            <a:r>
              <a:rPr lang="en-US" sz="2400" dirty="0">
                <a:latin typeface="Century Gothic" pitchFamily="34" charset="0"/>
              </a:rPr>
              <a:t> les </a:t>
            </a:r>
            <a:r>
              <a:rPr lang="en-US" sz="2400" dirty="0" err="1">
                <a:latin typeface="Century Gothic" pitchFamily="34" charset="0"/>
              </a:rPr>
              <a:t>fichiers</a:t>
            </a:r>
            <a:r>
              <a:rPr lang="en-US" sz="2400" dirty="0">
                <a:latin typeface="Century Gothic" pitchFamily="34" charset="0"/>
              </a:rPr>
              <a:t> :  </a:t>
            </a:r>
            <a:r>
              <a:rPr lang="fr-FR" sz="2400" dirty="0">
                <a:latin typeface="Century Gothic" pitchFamily="34" charset="0"/>
              </a:rPr>
              <a:t>.classpath .</a:t>
            </a:r>
            <a:r>
              <a:rPr lang="fr-FR" sz="2400" dirty="0" err="1">
                <a:latin typeface="Century Gothic" pitchFamily="34" charset="0"/>
              </a:rPr>
              <a:t>mvn</a:t>
            </a:r>
            <a:r>
              <a:rPr lang="fr-FR" sz="2400" dirty="0">
                <a:latin typeface="Century Gothic" pitchFamily="34" charset="0"/>
              </a:rPr>
              <a:t>/ .</a:t>
            </a:r>
            <a:r>
              <a:rPr lang="fr-FR" sz="2400" dirty="0" err="1">
                <a:latin typeface="Century Gothic" pitchFamily="34" charset="0"/>
              </a:rPr>
              <a:t>project</a:t>
            </a:r>
            <a:r>
              <a:rPr lang="fr-FR" sz="2400" dirty="0">
                <a:latin typeface="Century Gothic" pitchFamily="34" charset="0"/>
              </a:rPr>
              <a:t> .settings/ .</a:t>
            </a:r>
            <a:r>
              <a:rPr lang="fr-FR" sz="2400" dirty="0" err="1">
                <a:latin typeface="Century Gothic" pitchFamily="34" charset="0"/>
              </a:rPr>
              <a:t>springBeans</a:t>
            </a:r>
            <a:r>
              <a:rPr lang="fr-FR" sz="2400" dirty="0">
                <a:latin typeface="Century Gothic" pitchFamily="34" charset="0"/>
              </a:rPr>
              <a:t> HELP.md </a:t>
            </a:r>
            <a:r>
              <a:rPr lang="fr-FR" sz="2400" dirty="0" err="1">
                <a:latin typeface="Century Gothic" pitchFamily="34" charset="0"/>
              </a:rPr>
              <a:t>mvnw</a:t>
            </a:r>
            <a:r>
              <a:rPr lang="fr-FR" sz="2400" dirty="0">
                <a:latin typeface="Century Gothic" pitchFamily="34" charset="0"/>
              </a:rPr>
              <a:t> mvnw.cmd : ces fichiers sont locaux et créés automatiquement, le développer ne le changera jamais). </a:t>
            </a:r>
          </a:p>
          <a:p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commit -m "initialisation du projet timesheet-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devops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"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[master (root-commit) 6257aab] initialisation du projet timesheet-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devops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82 files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changed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, 2923 insertions(+)</a:t>
            </a:r>
          </a:p>
          <a:p>
            <a:pPr marL="0" indent="0">
              <a:buNone/>
            </a:pPr>
            <a:r>
              <a:rPr lang="fr-FR" dirty="0">
                <a:solidFill>
                  <a:prstClr val="black"/>
                </a:solidFill>
                <a:latin typeface="Lucida Console" panose="020B0609040504020204" pitchFamily="49" charset="0"/>
              </a:rPr>
              <a:t>    …</a:t>
            </a:r>
            <a:endParaRPr 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027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 Commit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12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Après chaque modification d’un ou de plusieurs fichiers, vous pouvez refaire la même action pour </a:t>
            </a:r>
            <a:r>
              <a:rPr lang="fr-FR" sz="2800" dirty="0" err="1">
                <a:latin typeface="Century Gothic" pitchFamily="34" charset="0"/>
              </a:rPr>
              <a:t>commiter</a:t>
            </a:r>
            <a:r>
              <a:rPr lang="fr-FR" sz="2800" dirty="0">
                <a:latin typeface="Century Gothic" pitchFamily="34" charset="0"/>
              </a:rPr>
              <a:t> vos modifications : git </a:t>
            </a:r>
            <a:r>
              <a:rPr lang="fr-FR" sz="2800" dirty="0" err="1">
                <a:latin typeface="Century Gothic" pitchFamily="34" charset="0"/>
              </a:rPr>
              <a:t>status</a:t>
            </a:r>
            <a:r>
              <a:rPr lang="fr-FR" sz="2800" dirty="0">
                <a:latin typeface="Century Gothic" pitchFamily="34" charset="0"/>
              </a:rPr>
              <a:t> puis git </a:t>
            </a:r>
            <a:r>
              <a:rPr lang="fr-FR" sz="2800" dirty="0" err="1">
                <a:latin typeface="Century Gothic" pitchFamily="34" charset="0"/>
              </a:rPr>
              <a:t>add</a:t>
            </a:r>
            <a:r>
              <a:rPr lang="fr-FR" sz="2800" dirty="0">
                <a:latin typeface="Century Gothic" pitchFamily="34" charset="0"/>
              </a:rPr>
              <a:t> puis git commit  (avec un autre commentaire bien sûr). </a:t>
            </a:r>
          </a:p>
          <a:p>
            <a:r>
              <a:rPr lang="fr-FR" sz="2800" dirty="0">
                <a:latin typeface="Century Gothic" pitchFamily="34" charset="0"/>
              </a:rPr>
              <a:t>Modifier le contenu d’un fichier (User.java par exemple) et refaites les actions ci-dessous (il faut mettre le </a:t>
            </a:r>
            <a:r>
              <a:rPr lang="fr-FR" sz="2800" u="sng" dirty="0">
                <a:latin typeface="Century Gothic" pitchFamily="34" charset="0"/>
              </a:rPr>
              <a:t>chemin complet</a:t>
            </a:r>
            <a:r>
              <a:rPr lang="fr-FR" sz="2800" dirty="0">
                <a:latin typeface="Century Gothic" pitchFamily="34" charset="0"/>
              </a:rPr>
              <a:t> vers le fichier) : </a:t>
            </a:r>
          </a:p>
          <a:p>
            <a:endParaRPr lang="fr-FR" sz="2000" dirty="0">
              <a:latin typeface="Century Gothic" pitchFamily="34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status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add</a:t>
            </a:r>
            <a:r>
              <a:rPr lang="fr-FR" sz="1800" dirty="0">
                <a:latin typeface="Lucida Console" panose="020B0609040504020204" pitchFamily="49" charset="0"/>
              </a:rPr>
              <a:t> src/main/java/</a:t>
            </a:r>
            <a:r>
              <a:rPr lang="fr-FR" sz="1800" dirty="0" err="1">
                <a:latin typeface="Lucida Console" panose="020B0609040504020204" pitchFamily="49" charset="0"/>
              </a:rPr>
              <a:t>tn</a:t>
            </a:r>
            <a:r>
              <a:rPr lang="fr-FR" sz="1800" dirty="0">
                <a:latin typeface="Lucida Console" panose="020B0609040504020204" pitchFamily="49" charset="0"/>
              </a:rPr>
              <a:t>/esprit/</a:t>
            </a:r>
            <a:r>
              <a:rPr lang="fr-FR" sz="1800" dirty="0" err="1">
                <a:latin typeface="Lucida Console" panose="020B0609040504020204" pitchFamily="49" charset="0"/>
              </a:rPr>
              <a:t>spring</a:t>
            </a:r>
            <a:r>
              <a:rPr lang="fr-FR" sz="1800" dirty="0">
                <a:latin typeface="Lucida Console" panose="020B0609040504020204" pitchFamily="49" charset="0"/>
              </a:rPr>
              <a:t>/</a:t>
            </a:r>
            <a:r>
              <a:rPr lang="fr-FR" sz="1800" dirty="0" err="1">
                <a:latin typeface="Lucida Console" panose="020B0609040504020204" pitchFamily="49" charset="0"/>
              </a:rPr>
              <a:t>entities</a:t>
            </a:r>
            <a:r>
              <a:rPr lang="fr-FR" sz="1800" dirty="0">
                <a:latin typeface="Lucida Console" panose="020B0609040504020204" pitchFamily="49" charset="0"/>
              </a:rPr>
              <a:t>/User.java  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commit -m "ajout commentaire"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[master 5386a19] ajout commentaire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1 file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changed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, 1 insertion(+)</a:t>
            </a: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74099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L’historique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13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Lancer la commande </a:t>
            </a:r>
            <a:r>
              <a:rPr lang="fr-FR" sz="2800" b="1" dirty="0">
                <a:latin typeface="Century Gothic" pitchFamily="34" charset="0"/>
              </a:rPr>
              <a:t>git log</a:t>
            </a:r>
            <a:r>
              <a:rPr lang="fr-FR" sz="2800" dirty="0">
                <a:latin typeface="Century Gothic" pitchFamily="34" charset="0"/>
              </a:rPr>
              <a:t> pour voir les deux commit (les deux photos de ton projet) : </a:t>
            </a:r>
          </a:p>
          <a:p>
            <a:endParaRPr lang="fr-FR" sz="2800" dirty="0">
              <a:latin typeface="Century Gothic" pitchFamily="34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git log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5386a198346eb13131c60ea9be651a3da667c4c2 (</a:t>
            </a:r>
            <a:r>
              <a:rPr lang="fr-FR" sz="1800" dirty="0">
                <a:solidFill>
                  <a:srgbClr val="40FFFF"/>
                </a:solidFill>
                <a:latin typeface="Lucida Console" panose="020B0609040504020204" pitchFamily="49" charset="0"/>
              </a:rPr>
              <a:t>HEAD -&gt; </a:t>
            </a:r>
            <a:r>
              <a:rPr lang="fr-FR" sz="1800" dirty="0">
                <a:solidFill>
                  <a:srgbClr val="40FF40"/>
                </a:solidFill>
                <a:latin typeface="Lucida Console" panose="020B0609040504020204" pitchFamily="49" charset="0"/>
              </a:rPr>
              <a:t>master</a:t>
            </a: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)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9 23:18:29 2021 +0100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ajout commentaire</a:t>
            </a: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6257aabac843778b7e7599f86b72f7b3bddf4c1a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9 23:10:06 2021 +0100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initialisation du projet timesheet-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devops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82447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Les branches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14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Créer une branche (</a:t>
            </a:r>
            <a:r>
              <a:rPr lang="fr-FR" sz="2800" b="1" dirty="0">
                <a:latin typeface="Century Gothic" pitchFamily="34" charset="0"/>
              </a:rPr>
              <a:t>git </a:t>
            </a:r>
            <a:r>
              <a:rPr lang="fr-FR" sz="2800" b="1" dirty="0" err="1">
                <a:latin typeface="Century Gothic" pitchFamily="34" charset="0"/>
              </a:rPr>
              <a:t>branch</a:t>
            </a:r>
            <a:r>
              <a:rPr lang="fr-FR" sz="2800" dirty="0">
                <a:latin typeface="Century Gothic" pitchFamily="34" charset="0"/>
              </a:rPr>
              <a:t>) et lister les branches (le * indique sur quelle branche nous sommes actuellement) :  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user-management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endParaRPr lang="fr-FR" sz="18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fr-FR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master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user-management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="" xmlns:a16="http://schemas.microsoft.com/office/drawing/2014/main" id="{1C74D4EC-80F3-476F-B5AB-F31BE98CF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43" y="1374738"/>
            <a:ext cx="9111314" cy="28803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08935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Les branches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15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Basculer sur la branche user-management :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checkout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user-management</a:t>
            </a:r>
          </a:p>
          <a:p>
            <a:pPr marL="400050" lvl="1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Switched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to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'user-management’ </a:t>
            </a: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endParaRPr lang="fr-FR" sz="18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master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fr-FR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user-management</a:t>
            </a:r>
          </a:p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endParaRPr lang="fr-FR" sz="2800" dirty="0">
              <a:latin typeface="Century Gothic" pitchFamily="34" charset="0"/>
            </a:endParaRPr>
          </a:p>
          <a:p>
            <a:pPr marL="400050" lvl="1" indent="0">
              <a:buNone/>
            </a:pPr>
            <a:endParaRPr lang="fr-FR" sz="1800" dirty="0">
              <a:solidFill>
                <a:srgbClr val="00BF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54795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Les branches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16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Faite une modification sur votre fichier (User.java par exemple) et </a:t>
            </a:r>
            <a:r>
              <a:rPr lang="fr-FR" sz="2800" dirty="0" err="1">
                <a:latin typeface="Century Gothic" pitchFamily="34" charset="0"/>
              </a:rPr>
              <a:t>commiter</a:t>
            </a:r>
            <a:r>
              <a:rPr lang="fr-FR" sz="2800" dirty="0">
                <a:latin typeface="Century Gothic" pitchFamily="34" charset="0"/>
              </a:rPr>
              <a:t> </a:t>
            </a:r>
            <a:r>
              <a:rPr lang="fr-FR" sz="2800" dirty="0" smtClean="0">
                <a:latin typeface="Century Gothic" pitchFamily="34" charset="0"/>
              </a:rPr>
              <a:t>la </a:t>
            </a:r>
            <a:r>
              <a:rPr lang="fr-FR" sz="2800" dirty="0">
                <a:latin typeface="Century Gothic" pitchFamily="34" charset="0"/>
              </a:rPr>
              <a:t>modification sur cette branche : 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add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User.java 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commit -m "modification 2"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[user-management 042579c] 2ème ajout commentaire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1 file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changed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, 2 insertions(+), 1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deletion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(-)</a:t>
            </a:r>
          </a:p>
          <a:p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Quelle commande pour voir l’historique : </a:t>
            </a:r>
          </a:p>
          <a:p>
            <a:pPr marL="400050" lvl="1" indent="0">
              <a:buNone/>
            </a:pPr>
            <a:endParaRPr lang="fr-FR" sz="1800" dirty="0">
              <a:solidFill>
                <a:srgbClr val="00BF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60543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Les branches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17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23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23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23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log</a:t>
            </a:r>
          </a:p>
          <a:p>
            <a:pPr marL="0" indent="0">
              <a:buNone/>
            </a:pPr>
            <a:endParaRPr lang="fr-FR" sz="1800" dirty="0">
              <a:solidFill>
                <a:srgbClr val="BFBF00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690f70f416800f25b66554c641480e344230f8f9 (</a:t>
            </a:r>
            <a:r>
              <a:rPr lang="fr-FR" sz="1800" dirty="0">
                <a:solidFill>
                  <a:srgbClr val="40FFFF"/>
                </a:solidFill>
                <a:latin typeface="Lucida Console" panose="020B0609040504020204" pitchFamily="49" charset="0"/>
              </a:rPr>
              <a:t>HEAD -&gt; </a:t>
            </a:r>
            <a:r>
              <a:rPr lang="fr-FR" dirty="0">
                <a:solidFill>
                  <a:srgbClr val="40FF40"/>
                </a:solidFill>
                <a:latin typeface="Lucida Console" panose="020B0609040504020204" pitchFamily="49" charset="0"/>
              </a:rPr>
              <a:t>user</a:t>
            </a:r>
            <a:r>
              <a:rPr lang="fr-FR" sz="1800" dirty="0">
                <a:solidFill>
                  <a:srgbClr val="40FF40"/>
                </a:solidFill>
                <a:latin typeface="Lucida Console" panose="020B0609040504020204" pitchFamily="49" charset="0"/>
              </a:rPr>
              <a:t>-management</a:t>
            </a: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9 23:25:29 2021 +0100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2ème ajout commentaire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5386a198346eb13131c60ea9be651a3da667c4c2 (</a:t>
            </a:r>
            <a:r>
              <a:rPr lang="fr-FR" sz="1800" dirty="0">
                <a:solidFill>
                  <a:srgbClr val="40FF40"/>
                </a:solidFill>
                <a:latin typeface="Lucida Console" panose="020B0609040504020204" pitchFamily="49" charset="0"/>
              </a:rPr>
              <a:t>master</a:t>
            </a: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9 23:18:29 2021 +0100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ajout commentaire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6257aabac843778b7e7599f86b72f7b3bddf4c1a</a:t>
            </a:r>
          </a:p>
          <a:p>
            <a:pPr marL="0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9 23:10:06 2021 +0100</a:t>
            </a:r>
          </a:p>
          <a:p>
            <a:pPr marL="0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initialisation du projet timesheet-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devops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endParaRPr lang="fr-FR" sz="1800" dirty="0">
              <a:solidFill>
                <a:srgbClr val="00BF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70735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Les branches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18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Récupérer ce travail sur la branche principale : basculer sur la branche qui va recevoir (master dans notre cas), faire un merge et supprimer la branche qui vient d’être mergée :   </a:t>
            </a:r>
          </a:p>
          <a:p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7720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Les branches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19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checkout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master</a:t>
            </a:r>
          </a:p>
          <a:p>
            <a:pPr marL="400050" lvl="1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Switched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to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'master’</a:t>
            </a: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endParaRPr lang="fr-FR" sz="18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fr-FR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master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user-management</a:t>
            </a: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git merge user-management</a:t>
            </a:r>
          </a:p>
          <a:p>
            <a:pPr marL="400050" lvl="1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Updating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5386a19..042579c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Fast-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forward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src/main/java/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tn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/esprit/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spring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/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entities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/User.java | 3 </a:t>
            </a:r>
            <a:r>
              <a:rPr lang="fr-FR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++</a:t>
            </a:r>
            <a:r>
              <a:rPr lang="fr-FR" sz="1800" dirty="0">
                <a:solidFill>
                  <a:srgbClr val="BF0000"/>
                </a:solidFill>
                <a:latin typeface="Lucida Console" panose="020B0609040504020204" pitchFamily="49" charset="0"/>
              </a:rPr>
              <a:t>-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1 file </a:t>
            </a:r>
            <a:r>
              <a:rPr lang="fr-FR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changed</a:t>
            </a:r>
            <a:r>
              <a:rPr lang="fr-FR" dirty="0">
                <a:solidFill>
                  <a:prstClr val="black"/>
                </a:solidFill>
                <a:latin typeface="Lucida Console" panose="020B0609040504020204" pitchFamily="49" charset="0"/>
              </a:rPr>
              <a:t>, 2 insertions(+), 1 </a:t>
            </a:r>
            <a:r>
              <a:rPr lang="fr-FR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deletion</a:t>
            </a:r>
            <a:r>
              <a:rPr lang="fr-FR" dirty="0">
                <a:solidFill>
                  <a:prstClr val="black"/>
                </a:solidFill>
                <a:latin typeface="Lucida Console" panose="020B0609040504020204" pitchFamily="49" charset="0"/>
              </a:rPr>
              <a:t>(-)</a:t>
            </a: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00013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Les branches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20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10693400" cy="5943330"/>
          </a:xfrm>
          <a:prstGeom prst="rect">
            <a:avLst/>
          </a:prstGeom>
        </p:spPr>
        <p:txBody>
          <a:bodyPr vert="horz" lIns="100838" tIns="50419" rIns="100838" bIns="50419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7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git log</a:t>
            </a:r>
          </a:p>
          <a:p>
            <a:pPr marL="0" indent="0">
              <a:buNone/>
            </a:pPr>
            <a:r>
              <a:rPr lang="fr-FR" sz="15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042579c2d194e357f6670eff05f214f8f7325136 (</a:t>
            </a:r>
            <a:r>
              <a:rPr lang="fr-FR" sz="1500" dirty="0">
                <a:solidFill>
                  <a:srgbClr val="40FFFF"/>
                </a:solidFill>
                <a:latin typeface="Lucida Console" panose="020B0609040504020204" pitchFamily="49" charset="0"/>
              </a:rPr>
              <a:t>HEAD -&gt; </a:t>
            </a:r>
            <a:r>
              <a:rPr lang="fr-FR" sz="1500" dirty="0">
                <a:solidFill>
                  <a:srgbClr val="40FF40"/>
                </a:solidFill>
                <a:latin typeface="Lucida Console" panose="020B0609040504020204" pitchFamily="49" charset="0"/>
              </a:rPr>
              <a:t>master</a:t>
            </a:r>
            <a:r>
              <a:rPr lang="fr-FR" sz="1500" dirty="0">
                <a:solidFill>
                  <a:srgbClr val="BFBF00"/>
                </a:solidFill>
                <a:latin typeface="Lucida Console" panose="020B0609040504020204" pitchFamily="49" charset="0"/>
              </a:rPr>
              <a:t>, </a:t>
            </a:r>
            <a:r>
              <a:rPr lang="fr-FR" sz="1500" dirty="0">
                <a:solidFill>
                  <a:srgbClr val="40FF40"/>
                </a:solidFill>
                <a:latin typeface="Lucida Console" panose="020B0609040504020204" pitchFamily="49" charset="0"/>
              </a:rPr>
              <a:t>user-management</a:t>
            </a:r>
            <a:r>
              <a:rPr lang="fr-FR" sz="1500" dirty="0">
                <a:solidFill>
                  <a:srgbClr val="BFBF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0" indent="0">
              <a:buNone/>
            </a:pP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7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7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9 23:25:29 2021 +0100</a:t>
            </a:r>
          </a:p>
          <a:p>
            <a:pPr marL="0" indent="0">
              <a:buNone/>
            </a:pP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   2ème ajout commentaire</a:t>
            </a:r>
          </a:p>
          <a:p>
            <a:pPr marL="0" indent="0">
              <a:buNone/>
            </a:pPr>
            <a:r>
              <a:rPr lang="fr-FR" sz="17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5386a198346eb13131c60ea9be651a3da667c4c2</a:t>
            </a:r>
          </a:p>
          <a:p>
            <a:pPr marL="0" indent="0">
              <a:buNone/>
            </a:pPr>
            <a:r>
              <a:rPr lang="en-US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0" indent="0">
              <a:buNone/>
            </a:pP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7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7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9 23:18:29 2021 +0100</a:t>
            </a:r>
          </a:p>
          <a:p>
            <a:pPr marL="0" indent="0">
              <a:buNone/>
            </a:pP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   ajout commentaire</a:t>
            </a:r>
          </a:p>
          <a:p>
            <a:pPr marL="0" indent="0">
              <a:buNone/>
            </a:pPr>
            <a:r>
              <a:rPr lang="fr-FR" sz="1700" dirty="0">
                <a:solidFill>
                  <a:srgbClr val="BFBF00"/>
                </a:solidFill>
                <a:latin typeface="Lucida Console" panose="020B0609040504020204" pitchFamily="49" charset="0"/>
              </a:rPr>
              <a:t>commit 6257aabac843778b7e7599f86b72f7b3bddf4c1a</a:t>
            </a:r>
          </a:p>
          <a:p>
            <a:pPr marL="0" indent="0">
              <a:buNone/>
            </a:pPr>
            <a:r>
              <a:rPr lang="en-US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Author: Mourad HASSINI &lt;mourad.hassini@esprit.tn&gt;</a:t>
            </a:r>
          </a:p>
          <a:p>
            <a:pPr marL="0" indent="0">
              <a:buNone/>
            </a:pP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Date:   </a:t>
            </a:r>
            <a:r>
              <a:rPr lang="fr-FR" sz="17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Fri</a:t>
            </a: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7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Apr</a:t>
            </a: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9 23:10:06 2021 +0100</a:t>
            </a:r>
          </a:p>
          <a:p>
            <a:pPr marL="0" indent="0">
              <a:buNone/>
            </a:pP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   initialisation du projet timesheet-</a:t>
            </a:r>
            <a:r>
              <a:rPr lang="fr-FR" sz="17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devops</a:t>
            </a:r>
            <a:r>
              <a:rPr lang="fr-FR" sz="17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endParaRPr lang="en-US" sz="1700" b="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fr-FR" sz="17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7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git </a:t>
            </a:r>
            <a:r>
              <a:rPr lang="fr-FR" sz="17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fr-FR" sz="17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-d user-management</a:t>
            </a:r>
          </a:p>
          <a:p>
            <a:pPr marL="0" indent="0">
              <a:buNone/>
            </a:pPr>
            <a:r>
              <a:rPr lang="en-US" sz="1700" b="0" dirty="0">
                <a:solidFill>
                  <a:prstClr val="black"/>
                </a:solidFill>
                <a:latin typeface="Lucida Console" panose="020B0609040504020204" pitchFamily="49" charset="0"/>
              </a:rPr>
              <a:t>Deleted branch user-management (was 0b4990e).</a:t>
            </a:r>
          </a:p>
          <a:p>
            <a:pPr marL="0" indent="0">
              <a:buNone/>
            </a:pPr>
            <a:endParaRPr lang="en-US" sz="1700" b="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700" b="1" dirty="0">
                <a:solidFill>
                  <a:prstClr val="black"/>
                </a:solidFill>
                <a:latin typeface="Lucida Console" panose="020B0609040504020204" pitchFamily="49" charset="0"/>
              </a:rPr>
              <a:t>$ git </a:t>
            </a:r>
            <a:r>
              <a:rPr lang="fr-FR" sz="17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endParaRPr lang="fr-FR" sz="17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fr-FR" sz="1700" b="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fr-FR" sz="1700" b="0" dirty="0">
                <a:solidFill>
                  <a:srgbClr val="00BF00"/>
                </a:solidFill>
                <a:latin typeface="Lucida Console" panose="020B0609040504020204" pitchFamily="49" charset="0"/>
              </a:rPr>
              <a:t>master</a:t>
            </a:r>
          </a:p>
        </p:txBody>
      </p:sp>
    </p:spTree>
    <p:extLst>
      <p:ext uri="{BB962C8B-B14F-4D97-AF65-F5344CB8AC3E}">
        <p14:creationId xmlns="" xmlns:p14="http://schemas.microsoft.com/office/powerpoint/2010/main" val="3188566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21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5346699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400" dirty="0" smtClean="0">
              <a:latin typeface="Century Gothic" pitchFamily="34" charset="0"/>
            </a:endParaRPr>
          </a:p>
          <a:p>
            <a:pPr>
              <a:buNone/>
            </a:pPr>
            <a:r>
              <a:rPr lang="fr-FR" sz="2400" dirty="0" smtClean="0">
                <a:latin typeface="Century Gothic" pitchFamily="34" charset="0"/>
              </a:rPr>
              <a:t>	Jusque </a:t>
            </a:r>
            <a:r>
              <a:rPr lang="fr-FR" sz="2400" dirty="0">
                <a:latin typeface="Century Gothic" pitchFamily="34" charset="0"/>
              </a:rPr>
              <a:t>là, Git nous a permis de travailler seul sur notre projet en local (</a:t>
            </a:r>
            <a:r>
              <a:rPr lang="fr-FR" sz="2400" dirty="0" err="1">
                <a:latin typeface="Century Gothic" pitchFamily="34" charset="0"/>
              </a:rPr>
              <a:t>versionning</a:t>
            </a:r>
            <a:r>
              <a:rPr lang="fr-FR" sz="2400" dirty="0">
                <a:latin typeface="Century Gothic" pitchFamily="34" charset="0"/>
              </a:rPr>
              <a:t>, historisation, …).  </a:t>
            </a:r>
          </a:p>
          <a:p>
            <a:endParaRPr lang="fr-FR" sz="2400" dirty="0">
              <a:latin typeface="Century Gothic" pitchFamily="34" charset="0"/>
            </a:endParaRPr>
          </a:p>
          <a:p>
            <a:pPr>
              <a:buNone/>
            </a:pPr>
            <a:r>
              <a:rPr lang="fr-FR" sz="2400" dirty="0" smtClean="0">
                <a:latin typeface="Century Gothic" pitchFamily="34" charset="0"/>
              </a:rPr>
              <a:t>	Nous </a:t>
            </a:r>
            <a:r>
              <a:rPr lang="fr-FR" sz="2400" dirty="0">
                <a:latin typeface="Century Gothic" pitchFamily="34" charset="0"/>
              </a:rPr>
              <a:t>avons utiliser le </a:t>
            </a:r>
            <a:r>
              <a:rPr lang="fr-FR" sz="2400" b="1" dirty="0" smtClean="0">
                <a:latin typeface="Century Gothic" pitchFamily="34" charset="0"/>
              </a:rPr>
              <a:t>Dépôt </a:t>
            </a:r>
            <a:r>
              <a:rPr lang="fr-FR" sz="2400" b="1" dirty="0">
                <a:latin typeface="Century Gothic" pitchFamily="34" charset="0"/>
              </a:rPr>
              <a:t>Git local</a:t>
            </a:r>
            <a:r>
              <a:rPr lang="fr-FR" sz="2400" dirty="0">
                <a:latin typeface="Century Gothic" pitchFamily="34" charset="0"/>
              </a:rPr>
              <a:t> : dossier (</a:t>
            </a:r>
            <a:r>
              <a:rPr lang="fr-FR" sz="2400" b="1" dirty="0">
                <a:latin typeface="Century Gothic" pitchFamily="34" charset="0"/>
              </a:rPr>
              <a:t>.git</a:t>
            </a:r>
            <a:r>
              <a:rPr lang="fr-FR" sz="2400" dirty="0">
                <a:latin typeface="Century Gothic" pitchFamily="34" charset="0"/>
              </a:rPr>
              <a:t>) : </a:t>
            </a:r>
          </a:p>
          <a:p>
            <a:endParaRPr lang="fr-FR" sz="2400" dirty="0">
              <a:latin typeface="Century Gothic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1DA033-FFEF-4F02-A734-50B4445C6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347" y="1333153"/>
            <a:ext cx="5329938" cy="57606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45763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22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800" dirty="0">
              <a:latin typeface="Century Gothic" pitchFamily="34" charset="0"/>
            </a:endParaRPr>
          </a:p>
          <a:p>
            <a:r>
              <a:rPr lang="fr-FR" sz="2800" dirty="0">
                <a:latin typeface="Century Gothic" pitchFamily="34" charset="0"/>
              </a:rPr>
              <a:t>Si on souhaite travailler en équipe : </a:t>
            </a:r>
            <a:endParaRPr lang="fr-FR" sz="2400" dirty="0">
              <a:latin typeface="Century Gothic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="" xmlns:a16="http://schemas.microsoft.com/office/drawing/2014/main" id="{C213F96B-A1D9-47D1-9D59-043601110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88" y="2425402"/>
            <a:ext cx="7972425" cy="45243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53336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23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2200" dirty="0">
              <a:latin typeface="Century Gothic" pitchFamily="34" charset="0"/>
            </a:endParaRPr>
          </a:p>
          <a:p>
            <a:r>
              <a:rPr lang="fr-FR" sz="2200" dirty="0">
                <a:latin typeface="Century Gothic" pitchFamily="34" charset="0"/>
              </a:rPr>
              <a:t>Créer un compte sur GitHub github.com</a:t>
            </a:r>
          </a:p>
          <a:p>
            <a:r>
              <a:rPr lang="fr-FR" sz="2200" dirty="0">
                <a:latin typeface="Century Gothic" pitchFamily="34" charset="0"/>
              </a:rPr>
              <a:t>Créer un Repository </a:t>
            </a:r>
          </a:p>
          <a:p>
            <a:r>
              <a:rPr lang="fr-FR" sz="2200" dirty="0">
                <a:latin typeface="Century Gothic" pitchFamily="34" charset="0"/>
              </a:rPr>
              <a:t>Associer le dépôt distant à notre dépôt local  (nom du dépôt distant </a:t>
            </a:r>
            <a:r>
              <a:rPr lang="fr-FR" sz="2200" dirty="0" err="1">
                <a:latin typeface="Century Gothic" pitchFamily="34" charset="0"/>
              </a:rPr>
              <a:t>origin</a:t>
            </a:r>
            <a:r>
              <a:rPr lang="fr-FR" sz="2200" dirty="0">
                <a:latin typeface="Century Gothic" pitchFamily="34" charset="0"/>
              </a:rPr>
              <a:t>) </a:t>
            </a:r>
          </a:p>
          <a:p>
            <a:r>
              <a:rPr lang="fr-FR" sz="2200" dirty="0">
                <a:latin typeface="Century Gothic" pitchFamily="34" charset="0"/>
              </a:rPr>
              <a:t>Enfin déposer votre projet sur le dépôt distant : </a:t>
            </a:r>
          </a:p>
          <a:p>
            <a:pPr marL="400050" lvl="1" indent="0">
              <a:buNone/>
            </a:pPr>
            <a:endParaRPr lang="en-US" sz="2200" dirty="0">
              <a:solidFill>
                <a:srgbClr val="00BF00"/>
              </a:solidFill>
              <a:latin typeface="Lucida Console" panose="020B06090405040202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20E09DA1-3233-497E-98DE-8FFD1278B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984" y="3639296"/>
            <a:ext cx="6463432" cy="348312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66885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24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Mourad HASSINI@M104 </a:t>
            </a:r>
            <a:r>
              <a:rPr lang="en-US" sz="1800" dirty="0">
                <a:solidFill>
                  <a:srgbClr val="BF00BF"/>
                </a:solidFill>
                <a:latin typeface="Lucida Console" panose="020B0609040504020204" pitchFamily="49" charset="0"/>
              </a:rPr>
              <a:t>MINGW64 </a:t>
            </a:r>
            <a:r>
              <a:rPr lang="en-US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/</a:t>
            </a:r>
            <a:r>
              <a:rPr lang="en-US" sz="1800" dirty="0" smtClean="0">
                <a:solidFill>
                  <a:srgbClr val="BFBF00"/>
                </a:solidFill>
                <a:latin typeface="Lucida Console" panose="020B0609040504020204" pitchFamily="49" charset="0"/>
              </a:rPr>
              <a:t>c/Work/workspace-</a:t>
            </a:r>
            <a:r>
              <a:rPr lang="en-US" sz="1800" dirty="0" err="1" smtClean="0">
                <a:solidFill>
                  <a:srgbClr val="BFBF00"/>
                </a:solidFill>
                <a:latin typeface="Lucida Console" panose="020B0609040504020204" pitchFamily="49" charset="0"/>
              </a:rPr>
              <a:t>intellij</a:t>
            </a:r>
            <a:r>
              <a:rPr lang="en-US" sz="1800" dirty="0" smtClean="0">
                <a:solidFill>
                  <a:srgbClr val="BFBF00"/>
                </a:solidFill>
                <a:latin typeface="Lucida Console" panose="020B0609040504020204" pitchFamily="49" charset="0"/>
              </a:rPr>
              <a:t>/timesheet-</a:t>
            </a:r>
            <a:r>
              <a:rPr lang="en-US" sz="1800" dirty="0" err="1" smtClean="0">
                <a:solidFill>
                  <a:srgbClr val="BFBF00"/>
                </a:solidFill>
                <a:latin typeface="Lucida Console" panose="020B0609040504020204" pitchFamily="49" charset="0"/>
              </a:rPr>
              <a:t>devops</a:t>
            </a:r>
            <a:r>
              <a:rPr lang="en-US" sz="1800" dirty="0" smtClean="0">
                <a:solidFill>
                  <a:srgbClr val="00BFBF"/>
                </a:solidFill>
                <a:latin typeface="Lucida Console" panose="020B0609040504020204" pitchFamily="49" charset="0"/>
              </a:rPr>
              <a:t> </a:t>
            </a:r>
            <a:r>
              <a:rPr lang="en-US" sz="1800" dirty="0">
                <a:solidFill>
                  <a:srgbClr val="00BFBF"/>
                </a:solidFill>
                <a:latin typeface="Lucida Console" panose="020B0609040504020204" pitchFamily="49" charset="0"/>
              </a:rPr>
              <a:t>(master) 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en-US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remote add origin </a:t>
            </a:r>
            <a:r>
              <a:rPr lang="en-US" sz="1800" b="1" dirty="0">
                <a:solidFill>
                  <a:prstClr val="black"/>
                </a:solidFill>
                <a:latin typeface="Lucida Console" panose="020B0609040504020204" pitchFamily="49" charset="0"/>
                <a:hlinkClick r:id="rId3"/>
              </a:rPr>
              <a:t>https://github.com/mhassini/timesheet-devops.git</a:t>
            </a:r>
            <a:r>
              <a:rPr lang="en-US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remote</a:t>
            </a:r>
            <a:endParaRPr lang="fr-FR" sz="1800" b="1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origin</a:t>
            </a: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endParaRPr lang="fr-F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  <a:endParaRPr lang="en-US" sz="18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git push </a:t>
            </a:r>
            <a:r>
              <a:rPr lang="fr-FR" sz="1800" b="1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origin</a:t>
            </a:r>
            <a:r>
              <a:rPr lang="fr-FR" sz="1800" b="1" dirty="0">
                <a:solidFill>
                  <a:prstClr val="black"/>
                </a:solidFill>
                <a:latin typeface="Lucida Console" panose="020B0609040504020204" pitchFamily="49" charset="0"/>
              </a:rPr>
              <a:t> master</a:t>
            </a:r>
          </a:p>
          <a:p>
            <a:pPr marL="400050" lvl="1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Counting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objects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: 137,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done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.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Delta compression using up to 4 threads.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Compressing objects: 100% (116/116), done.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Writing objects: 100% (137/137), 58.56 KiB | 768.00 KiB/s, done.</a:t>
            </a:r>
          </a:p>
          <a:p>
            <a:pPr marL="400050" lvl="1" indent="0">
              <a:buNone/>
            </a:pPr>
            <a:r>
              <a:rPr lang="sv-SE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Total 137 (delta 24), reused 0 (delta 0)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remote: Resolving deltas: 100% (24/24), done.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To https://github.com/mhassini/timesheet-devops.git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* [new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branch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]      master -&gt; master</a:t>
            </a:r>
          </a:p>
        </p:txBody>
      </p:sp>
    </p:spTree>
    <p:extLst>
      <p:ext uri="{BB962C8B-B14F-4D97-AF65-F5344CB8AC3E}">
        <p14:creationId xmlns="" xmlns:p14="http://schemas.microsoft.com/office/powerpoint/2010/main" val="3022711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25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buNone/>
            </a:pPr>
            <a:r>
              <a:rPr lang="fr-FR" sz="1800" dirty="0">
                <a:latin typeface="Lucida Console" panose="020B0609040504020204" pitchFamily="49" charset="0"/>
              </a:rPr>
              <a:t>Attention au Password (si erreur) : </a:t>
            </a:r>
          </a:p>
          <a:p>
            <a:pPr marL="400050" lvl="1" indent="0">
              <a:buNone/>
            </a:pPr>
            <a:endParaRPr lang="fr-FR" sz="1800" dirty="0">
              <a:solidFill>
                <a:srgbClr val="00BF00"/>
              </a:solidFill>
              <a:latin typeface="Lucida Console" panose="020B0609040504020204" pitchFamily="49" charset="0"/>
            </a:endParaRPr>
          </a:p>
          <a:p>
            <a:r>
              <a:rPr lang="en-US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Mourad HASSINI@M104 </a:t>
            </a:r>
            <a:r>
              <a:rPr lang="en-US" sz="1800" dirty="0">
                <a:solidFill>
                  <a:srgbClr val="BF00BF"/>
                </a:solidFill>
                <a:latin typeface="Lucida Console" panose="020B0609040504020204" pitchFamily="49" charset="0"/>
              </a:rPr>
              <a:t>MINGW64 </a:t>
            </a:r>
            <a:r>
              <a:rPr lang="en-US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/c/Work/workspace-eclipse/maven/avec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</a:t>
            </a:r>
            <a:r>
              <a:rPr lang="en-US" sz="1800" dirty="0">
                <a:solidFill>
                  <a:srgbClr val="BFBF00"/>
                </a:solidFill>
                <a:latin typeface="Lucida Console" panose="020B0609040504020204" pitchFamily="49" charset="0"/>
              </a:rPr>
              <a:t>-maven</a:t>
            </a:r>
            <a:r>
              <a:rPr lang="en-US" sz="1800" dirty="0">
                <a:solidFill>
                  <a:srgbClr val="00BFBF"/>
                </a:solidFill>
                <a:latin typeface="Lucida Console" panose="020B0609040504020204" pitchFamily="49" charset="0"/>
              </a:rPr>
              <a:t> (master)</a:t>
            </a:r>
          </a:p>
          <a:p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$ git push </a:t>
            </a:r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origin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master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Logon failed, use 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ctrl+c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to cancel basic credential prompt.</a:t>
            </a:r>
          </a:p>
          <a:p>
            <a:r>
              <a:rPr lang="fr-FR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Username</a:t>
            </a:r>
            <a:r>
              <a:rPr lang="fr-FR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for 'https://github.com': mourad.hassini@esprit.tn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remote: Support for password authentication was removed on 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Augus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t 13, 2021. Please use a personal access token instead.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remote: Please see https://github.blog/2020-12-15-token-authenti         cation-requirements-for-git-operations/ for more information.</a:t>
            </a:r>
          </a:p>
          <a:p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fatal: Authentication failed for 'https://github.com/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mhassini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/av         </a:t>
            </a:r>
            <a:r>
              <a:rPr lang="en-US" sz="18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ec-maven.git</a:t>
            </a:r>
            <a:r>
              <a:rPr lang="en-US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/’</a:t>
            </a:r>
          </a:p>
          <a:p>
            <a:pPr marL="400050" lvl="1" indent="0">
              <a:buNone/>
            </a:pPr>
            <a:endParaRPr lang="fr-FR" sz="1800" dirty="0">
              <a:solidFill>
                <a:srgbClr val="00BF00"/>
              </a:solidFill>
              <a:latin typeface="Lucida Console" panose="020B0609040504020204" pitchFamily="49" charset="0"/>
            </a:endParaRPr>
          </a:p>
          <a:p>
            <a:pPr marL="400050" lvl="1" indent="0">
              <a:buNone/>
            </a:pPr>
            <a:r>
              <a:rPr lang="fr-FR" sz="1800" b="1" dirty="0">
                <a:latin typeface="Lucida Console" panose="020B0609040504020204" pitchFamily="49" charset="0"/>
              </a:rPr>
              <a:t>Solution : </a:t>
            </a:r>
            <a:r>
              <a:rPr lang="fr-FR" sz="1800" b="1" dirty="0" err="1">
                <a:latin typeface="Lucida Console" panose="020B0609040504020204" pitchFamily="49" charset="0"/>
              </a:rPr>
              <a:t>Créaton</a:t>
            </a:r>
            <a:r>
              <a:rPr lang="fr-FR" sz="1800" b="1" dirty="0">
                <a:latin typeface="Lucida Console" panose="020B0609040504020204" pitchFamily="49" charset="0"/>
              </a:rPr>
              <a:t> de </a:t>
            </a:r>
            <a:r>
              <a:rPr lang="fr-FR" sz="1800" b="1" dirty="0" err="1">
                <a:latin typeface="Lucida Console" panose="020B0609040504020204" pitchFamily="49" charset="0"/>
              </a:rPr>
              <a:t>token</a:t>
            </a:r>
            <a:r>
              <a:rPr lang="fr-FR" sz="1800" b="1" dirty="0">
                <a:latin typeface="Lucida Console" panose="020B0609040504020204" pitchFamily="49" charset="0"/>
              </a:rPr>
              <a:t> : 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srgbClr val="00BF00"/>
                </a:solidFill>
                <a:latin typeface="Lucida Console" panose="020B0609040504020204" pitchFamily="49" charset="0"/>
                <a:hlinkClick r:id="rId3"/>
              </a:rPr>
              <a:t>https://docs.github.com/en/authentication/keeping-your-account-and-data-secure/creating-a-personal-access-token</a:t>
            </a:r>
            <a:r>
              <a:rPr lang="fr-FR" sz="1800" dirty="0">
                <a:solidFill>
                  <a:srgbClr val="00BF00"/>
                </a:solidFill>
                <a:latin typeface="Lucida Console" panose="020B06090405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781891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26</a:t>
            </a:fld>
            <a:endParaRPr sz="1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80E2BD8-CE75-42F0-89DB-F8C465B4C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37" y="1696138"/>
            <a:ext cx="8848725" cy="49434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40971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Git avec IDE 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27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0838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latin typeface="Century Gothic" pitchFamily="34" charset="0"/>
              </a:rPr>
              <a:t>Maintenant vous pouvez utilisez Git en ligne de commande ou sur </a:t>
            </a:r>
            <a:r>
              <a:rPr lang="fr-FR" sz="2000" dirty="0" smtClean="0">
                <a:latin typeface="Century Gothic" pitchFamily="34" charset="0"/>
              </a:rPr>
              <a:t>IntelliJ </a:t>
            </a:r>
            <a:r>
              <a:rPr lang="fr-FR" sz="2000" dirty="0">
                <a:latin typeface="Century Gothic" pitchFamily="34" charset="0"/>
              </a:rPr>
              <a:t>:  </a:t>
            </a:r>
          </a:p>
          <a:p>
            <a:pPr marL="400050" lvl="1" indent="0">
              <a:buNone/>
            </a:pPr>
            <a:endParaRPr lang="en-US" sz="2200" dirty="0">
              <a:solidFill>
                <a:srgbClr val="00BF00"/>
              </a:solidFill>
              <a:latin typeface="Lucida Console" panose="020B06090405040202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37F98233-55EA-3F7C-0F15-DDF3D5446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87" y="1693193"/>
            <a:ext cx="7658621" cy="550999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32642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28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106934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200" dirty="0">
              <a:latin typeface="Century Gothic" pitchFamily="34" charset="0"/>
            </a:endParaRPr>
          </a:p>
          <a:p>
            <a:r>
              <a:rPr lang="fr-FR" sz="2200" dirty="0">
                <a:latin typeface="Century Gothic" pitchFamily="34" charset="0"/>
              </a:rPr>
              <a:t>Comment l’équipe récupère ce projet? </a:t>
            </a:r>
          </a:p>
          <a:p>
            <a:r>
              <a:rPr lang="fr-FR" sz="2200" dirty="0">
                <a:latin typeface="Century Gothic" pitchFamily="34" charset="0"/>
              </a:rPr>
              <a:t>Celui qui a mis le projet sur GitHub doit donner les accès à ces collègues (Sur l’interface </a:t>
            </a:r>
            <a:r>
              <a:rPr lang="fr-FR" sz="2200" dirty="0" err="1" smtClean="0">
                <a:latin typeface="Century Gothic" pitchFamily="34" charset="0"/>
              </a:rPr>
              <a:t>Github</a:t>
            </a:r>
            <a:r>
              <a:rPr lang="fr-FR" sz="2200" dirty="0">
                <a:latin typeface="Century Gothic" pitchFamily="34" charset="0"/>
              </a:rPr>
              <a:t>: </a:t>
            </a:r>
            <a:r>
              <a:rPr lang="fr-FR" sz="2200" b="1" dirty="0" err="1">
                <a:latin typeface="Century Gothic" pitchFamily="34" charset="0"/>
              </a:rPr>
              <a:t>Collaborators</a:t>
            </a:r>
            <a:r>
              <a:rPr lang="fr-FR" sz="2200" b="1" dirty="0">
                <a:latin typeface="Century Gothic" pitchFamily="34" charset="0"/>
              </a:rPr>
              <a:t> -&gt; Settings</a:t>
            </a:r>
            <a:r>
              <a:rPr lang="fr-FR" sz="2200" dirty="0">
                <a:latin typeface="Century Gothic" pitchFamily="34" charset="0"/>
              </a:rPr>
              <a:t>)</a:t>
            </a:r>
          </a:p>
          <a:p>
            <a:r>
              <a:rPr lang="fr-FR" sz="2200" dirty="0">
                <a:latin typeface="Century Gothic" pitchFamily="34" charset="0"/>
              </a:rPr>
              <a:t>Les collègues doivent se connecter au dépôt distant (git </a:t>
            </a:r>
            <a:r>
              <a:rPr lang="fr-FR" sz="2200" dirty="0" err="1">
                <a:latin typeface="Century Gothic" pitchFamily="34" charset="0"/>
              </a:rPr>
              <a:t>remote</a:t>
            </a:r>
            <a:r>
              <a:rPr lang="fr-FR" sz="2200" dirty="0">
                <a:latin typeface="Century Gothic" pitchFamily="34" charset="0"/>
              </a:rPr>
              <a:t> </a:t>
            </a:r>
            <a:r>
              <a:rPr lang="fr-FR" sz="2200" dirty="0" err="1">
                <a:latin typeface="Century Gothic" pitchFamily="34" charset="0"/>
              </a:rPr>
              <a:t>add</a:t>
            </a:r>
            <a:r>
              <a:rPr lang="fr-FR" sz="2200" dirty="0">
                <a:latin typeface="Century Gothic" pitchFamily="34" charset="0"/>
              </a:rPr>
              <a:t> …)  et faire un pull : </a:t>
            </a:r>
          </a:p>
          <a:p>
            <a:endParaRPr lang="fr-FR" sz="2200" dirty="0">
              <a:latin typeface="Century Gothic" pitchFamily="34" charset="0"/>
            </a:endParaRPr>
          </a:p>
          <a:p>
            <a:endParaRPr lang="fr-FR" sz="2200" dirty="0">
              <a:latin typeface="Century Gothic" pitchFamily="34" charset="0"/>
            </a:endParaRPr>
          </a:p>
          <a:p>
            <a:endParaRPr lang="en-US" sz="2200" dirty="0">
              <a:latin typeface="Lucida Console" panose="020B0609040504020204" pitchFamily="49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="" xmlns:a16="http://schemas.microsoft.com/office/drawing/2014/main" id="{87AD12B3-68F0-4AD3-B07E-99D00C108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493" y="3595153"/>
            <a:ext cx="5536414" cy="354819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5573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1018525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3200" dirty="0">
                <a:latin typeface="Century Gothic" pitchFamily="34" charset="0"/>
                <a:cs typeface="Century Gothic"/>
              </a:rPr>
              <a:t>Dépôt distant GitHub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29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241300" y="1283393"/>
            <a:ext cx="10452100" cy="5943330"/>
          </a:xfrm>
          <a:prstGeom prst="rect">
            <a:avLst/>
          </a:prstGeom>
        </p:spPr>
        <p:txBody>
          <a:bodyPr vert="horz" lIns="100838" tIns="50419" rIns="100838" bIns="50419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200" dirty="0">
              <a:latin typeface="Century Gothic" pitchFamily="34" charset="0"/>
            </a:endParaRPr>
          </a:p>
          <a:p>
            <a:r>
              <a:rPr lang="fr-FR" sz="2200" dirty="0">
                <a:latin typeface="Century Gothic" pitchFamily="34" charset="0"/>
              </a:rPr>
              <a:t>Comme vous allez travailler en équipe, les autres membres d’un même groupe, récupèrent le code de GitHub avec la commande ci-dessous : </a:t>
            </a:r>
          </a:p>
          <a:p>
            <a:endParaRPr lang="fr-FR" sz="2200" dirty="0">
              <a:latin typeface="Century Gothic" pitchFamily="34" charset="0"/>
            </a:endParaRPr>
          </a:p>
          <a:p>
            <a:r>
              <a:rPr lang="fr-FR" sz="2200" b="1" dirty="0">
                <a:latin typeface="Century Gothic" pitchFamily="34" charset="0"/>
              </a:rPr>
              <a:t>git clone git://github.com/mhassini/timesheet-devops.git</a:t>
            </a:r>
          </a:p>
          <a:p>
            <a:endParaRPr lang="fr-FR" sz="2200" dirty="0">
              <a:latin typeface="Century Gothic" pitchFamily="34" charset="0"/>
            </a:endParaRPr>
          </a:p>
          <a:p>
            <a:endParaRPr lang="fr-FR" sz="2200" dirty="0">
              <a:latin typeface="Century Gothic" pitchFamily="34" charset="0"/>
            </a:endParaRPr>
          </a:p>
          <a:p>
            <a:r>
              <a:rPr lang="fr-FR" sz="2200" dirty="0">
                <a:latin typeface="Century Gothic" pitchFamily="34" charset="0"/>
              </a:rPr>
              <a:t>C’est équivalent à : </a:t>
            </a:r>
          </a:p>
          <a:p>
            <a:endParaRPr lang="fr-FR" sz="2200" dirty="0">
              <a:latin typeface="Century Gothic" pitchFamily="34" charset="0"/>
            </a:endParaRPr>
          </a:p>
          <a:p>
            <a:r>
              <a:rPr lang="fr-FR" sz="2200" dirty="0">
                <a:latin typeface="Century Gothic" pitchFamily="34" charset="0"/>
              </a:rPr>
              <a:t>git init</a:t>
            </a:r>
          </a:p>
          <a:p>
            <a:r>
              <a:rPr lang="fr-FR" sz="2200" dirty="0">
                <a:latin typeface="Century Gothic" pitchFamily="34" charset="0"/>
              </a:rPr>
              <a:t>git </a:t>
            </a:r>
            <a:r>
              <a:rPr lang="fr-FR" sz="2200" dirty="0" err="1">
                <a:latin typeface="Century Gothic" pitchFamily="34" charset="0"/>
              </a:rPr>
              <a:t>remote</a:t>
            </a:r>
            <a:r>
              <a:rPr lang="fr-FR" sz="2200" dirty="0">
                <a:latin typeface="Century Gothic" pitchFamily="34" charset="0"/>
              </a:rPr>
              <a:t> </a:t>
            </a:r>
            <a:r>
              <a:rPr lang="fr-FR" sz="2200" dirty="0" err="1">
                <a:latin typeface="Century Gothic" pitchFamily="34" charset="0"/>
              </a:rPr>
              <a:t>add</a:t>
            </a:r>
            <a:r>
              <a:rPr lang="fr-FR" sz="2200" dirty="0">
                <a:latin typeface="Century Gothic" pitchFamily="34" charset="0"/>
              </a:rPr>
              <a:t> </a:t>
            </a:r>
            <a:r>
              <a:rPr lang="fr-FR" sz="2200" dirty="0" err="1">
                <a:latin typeface="Century Gothic" pitchFamily="34" charset="0"/>
              </a:rPr>
              <a:t>origin</a:t>
            </a:r>
            <a:r>
              <a:rPr lang="fr-FR" sz="2200" dirty="0">
                <a:latin typeface="Century Gothic" pitchFamily="34" charset="0"/>
              </a:rPr>
              <a:t> git://github.com/mhassini/timesheet-devops.git</a:t>
            </a:r>
          </a:p>
          <a:p>
            <a:r>
              <a:rPr lang="fr-FR" sz="2200" dirty="0">
                <a:latin typeface="Century Gothic" pitchFamily="34" charset="0"/>
              </a:rPr>
              <a:t>git pull </a:t>
            </a:r>
            <a:r>
              <a:rPr lang="fr-FR" sz="2200" dirty="0" err="1">
                <a:latin typeface="Century Gothic" pitchFamily="34" charset="0"/>
              </a:rPr>
              <a:t>origin</a:t>
            </a:r>
            <a:r>
              <a:rPr lang="fr-FR" sz="2200" dirty="0">
                <a:latin typeface="Century Gothic" pitchFamily="34" charset="0"/>
              </a:rPr>
              <a:t> master</a:t>
            </a:r>
          </a:p>
          <a:p>
            <a:endParaRPr lang="fr-FR" sz="2200" dirty="0">
              <a:latin typeface="Century Gothic" pitchFamily="34" charset="0"/>
            </a:endParaRPr>
          </a:p>
          <a:p>
            <a:endParaRPr lang="en-US" sz="2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83161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956970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2800" dirty="0" smtClean="0">
                <a:latin typeface="Century Gothic" pitchFamily="34" charset="0"/>
                <a:cs typeface="Century Gothic"/>
              </a:rPr>
              <a:t>TP1 </a:t>
            </a:r>
            <a:r>
              <a:rPr lang="fr-FR" sz="2800" dirty="0">
                <a:latin typeface="Century Gothic" pitchFamily="34" charset="0"/>
                <a:cs typeface="Century Gothic"/>
              </a:rPr>
              <a:t>: GIT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30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10693400" cy="5943330"/>
          </a:xfrm>
          <a:prstGeom prst="rect">
            <a:avLst/>
          </a:prstGeom>
        </p:spPr>
        <p:txBody>
          <a:bodyPr vert="horz" lIns="100838" tIns="50419" rIns="100838" bIns="50419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sz="2000" dirty="0" smtClean="0">
                <a:latin typeface="Century Gothic" pitchFamily="34" charset="0"/>
              </a:rPr>
              <a:t>	Vous avez tous fait des manipulations sur le projet exemple </a:t>
            </a:r>
            <a:r>
              <a:rPr lang="fr-FR" sz="2000" dirty="0" err="1" smtClean="0">
                <a:latin typeface="Century Gothic" pitchFamily="34" charset="0"/>
              </a:rPr>
              <a:t>timesheet</a:t>
            </a:r>
            <a:r>
              <a:rPr lang="fr-FR" sz="2000" dirty="0" smtClean="0">
                <a:latin typeface="Century Gothic" pitchFamily="34" charset="0"/>
              </a:rPr>
              <a:t>-</a:t>
            </a:r>
            <a:r>
              <a:rPr lang="fr-FR" sz="2000" dirty="0" err="1" smtClean="0">
                <a:latin typeface="Century Gothic" pitchFamily="34" charset="0"/>
              </a:rPr>
              <a:t>devops</a:t>
            </a:r>
            <a:r>
              <a:rPr lang="fr-FR" sz="2000" dirty="0" smtClean="0">
                <a:latin typeface="Century Gothic" pitchFamily="34" charset="0"/>
              </a:rPr>
              <a:t>. Maintenant, vous </a:t>
            </a:r>
            <a:r>
              <a:rPr lang="fr-FR" sz="2000" dirty="0">
                <a:latin typeface="Century Gothic" pitchFamily="34" charset="0"/>
              </a:rPr>
              <a:t>allez travailler en </a:t>
            </a:r>
            <a:r>
              <a:rPr lang="fr-FR" sz="2000" dirty="0" smtClean="0">
                <a:latin typeface="Century Gothic" pitchFamily="34" charset="0"/>
              </a:rPr>
              <a:t>équipe sur le </a:t>
            </a:r>
            <a:r>
              <a:rPr lang="fr-FR" sz="2000" b="1" dirty="0" smtClean="0">
                <a:latin typeface="Century Gothic" pitchFamily="34" charset="0"/>
              </a:rPr>
              <a:t>vrai projet</a:t>
            </a:r>
            <a:r>
              <a:rPr lang="fr-FR" sz="2000" dirty="0" smtClean="0">
                <a:latin typeface="Century Gothic" pitchFamily="34" charset="0"/>
              </a:rPr>
              <a:t> </a:t>
            </a:r>
            <a:r>
              <a:rPr lang="fr-FR" sz="2000" dirty="0">
                <a:latin typeface="Century Gothic" pitchFamily="34" charset="0"/>
              </a:rPr>
              <a:t>:</a:t>
            </a:r>
          </a:p>
          <a:p>
            <a:endParaRPr lang="fr-FR" sz="2000" dirty="0" smtClean="0">
              <a:latin typeface="Century Gothic" pitchFamily="34" charset="0"/>
              <a:cs typeface="Century Gothic"/>
            </a:endParaRPr>
          </a:p>
          <a:p>
            <a:pPr>
              <a:buNone/>
            </a:pPr>
            <a:r>
              <a:rPr lang="fr-FR" sz="2000" dirty="0" smtClean="0">
                <a:latin typeface="Century Gothic" pitchFamily="34" charset="0"/>
                <a:cs typeface="Century Gothic"/>
              </a:rPr>
              <a:t>	1- Un seul membre par équipe récupère </a:t>
            </a:r>
            <a:r>
              <a:rPr lang="fr-FR" sz="2000" b="1" dirty="0">
                <a:latin typeface="Century Gothic" pitchFamily="34" charset="0"/>
                <a:cs typeface="Century Gothic"/>
              </a:rPr>
              <a:t>le projet déjà prêt </a:t>
            </a:r>
            <a:r>
              <a:rPr lang="fr-FR" sz="2000" b="1" dirty="0" smtClean="0">
                <a:latin typeface="Century Gothic" pitchFamily="34" charset="0"/>
                <a:cs typeface="Century Gothic"/>
              </a:rPr>
              <a:t>du Drive, </a:t>
            </a:r>
            <a:r>
              <a:rPr lang="fr-FR" sz="2000" b="1" dirty="0">
                <a:latin typeface="Century Gothic" pitchFamily="34" charset="0"/>
                <a:cs typeface="Century Gothic"/>
              </a:rPr>
              <a:t>dossier </a:t>
            </a:r>
            <a:r>
              <a:rPr lang="fr-FR" sz="2000" b="1" dirty="0" smtClean="0">
                <a:latin typeface="Century Gothic" pitchFamily="34" charset="0"/>
                <a:cs typeface="Century Gothic"/>
              </a:rPr>
              <a:t>code-source</a:t>
            </a:r>
            <a:r>
              <a:rPr lang="fr-FR" sz="2000" dirty="0" smtClean="0">
                <a:latin typeface="Century Gothic" pitchFamily="34" charset="0"/>
                <a:cs typeface="Century Gothic"/>
              </a:rPr>
              <a:t> , le </a:t>
            </a:r>
            <a:r>
              <a:rPr lang="fr-FR" sz="2000" dirty="0" err="1" smtClean="0">
                <a:latin typeface="Century Gothic" pitchFamily="34" charset="0"/>
                <a:cs typeface="Century Gothic"/>
              </a:rPr>
              <a:t>dézippe</a:t>
            </a:r>
            <a:r>
              <a:rPr lang="fr-FR" sz="2000" dirty="0" smtClean="0">
                <a:latin typeface="Century Gothic" pitchFamily="34" charset="0"/>
                <a:cs typeface="Century Gothic"/>
              </a:rPr>
              <a:t> dans le workspace IntelliJ en </a:t>
            </a:r>
            <a:r>
              <a:rPr lang="fr-FR" sz="2000" dirty="0">
                <a:latin typeface="Century Gothic" pitchFamily="34" charset="0"/>
                <a:cs typeface="Century Gothic"/>
              </a:rPr>
              <a:t>local et le pousse sur </a:t>
            </a:r>
            <a:r>
              <a:rPr lang="fr-FR" sz="2000" dirty="0" err="1" smtClean="0">
                <a:latin typeface="Century Gothic" pitchFamily="34" charset="0"/>
                <a:cs typeface="Century Gothic"/>
              </a:rPr>
              <a:t>Github</a:t>
            </a:r>
            <a:r>
              <a:rPr lang="fr-FR" sz="2000" dirty="0" smtClean="0">
                <a:latin typeface="Century Gothic" pitchFamily="34" charset="0"/>
                <a:cs typeface="Century Gothic"/>
              </a:rPr>
              <a:t>, en suivant les étapes ci-dessus. </a:t>
            </a:r>
          </a:p>
          <a:p>
            <a:pPr>
              <a:buNone/>
            </a:pPr>
            <a:endParaRPr lang="fr-FR" sz="1100" dirty="0" smtClean="0">
              <a:latin typeface="Century Gothic" pitchFamily="34" charset="0"/>
              <a:cs typeface="Century Gothic"/>
            </a:endParaRPr>
          </a:p>
          <a:p>
            <a:pPr>
              <a:buNone/>
            </a:pPr>
            <a:r>
              <a:rPr lang="fr-FR" sz="2000" dirty="0" smtClean="0">
                <a:latin typeface="Century Gothic" pitchFamily="34" charset="0"/>
                <a:cs typeface="Century Gothic"/>
              </a:rPr>
              <a:t>	2- </a:t>
            </a:r>
            <a:r>
              <a:rPr lang="fr-FR" sz="2000" dirty="0" smtClean="0">
                <a:latin typeface="Century Gothic" pitchFamily="34" charset="0"/>
              </a:rPr>
              <a:t>Celui qui a mis le projet sur </a:t>
            </a:r>
            <a:r>
              <a:rPr lang="fr-FR" sz="2000" dirty="0" err="1" smtClean="0">
                <a:latin typeface="Century Gothic" pitchFamily="34" charset="0"/>
              </a:rPr>
              <a:t>GitHub</a:t>
            </a:r>
            <a:r>
              <a:rPr lang="fr-FR" sz="2000" dirty="0" smtClean="0">
                <a:latin typeface="Century Gothic" pitchFamily="34" charset="0"/>
              </a:rPr>
              <a:t> doit donner les accès à ces collègues (Sur l’interface </a:t>
            </a:r>
            <a:r>
              <a:rPr lang="fr-FR" sz="2000" dirty="0" err="1" smtClean="0">
                <a:latin typeface="Century Gothic" pitchFamily="34" charset="0"/>
              </a:rPr>
              <a:t>github</a:t>
            </a:r>
            <a:r>
              <a:rPr lang="fr-FR" sz="2000" dirty="0" smtClean="0">
                <a:latin typeface="Century Gothic" pitchFamily="34" charset="0"/>
              </a:rPr>
              <a:t>: </a:t>
            </a:r>
            <a:r>
              <a:rPr lang="fr-FR" sz="2000" b="1" dirty="0" err="1" smtClean="0">
                <a:latin typeface="Century Gothic" pitchFamily="34" charset="0"/>
              </a:rPr>
              <a:t>Collaborators</a:t>
            </a:r>
            <a:r>
              <a:rPr lang="fr-FR" sz="2000" b="1" dirty="0" smtClean="0">
                <a:latin typeface="Century Gothic" pitchFamily="34" charset="0"/>
              </a:rPr>
              <a:t> -&gt; Settings</a:t>
            </a:r>
            <a:r>
              <a:rPr lang="fr-FR" sz="2000" dirty="0" smtClean="0">
                <a:latin typeface="Century Gothic" pitchFamily="34" charset="0"/>
              </a:rPr>
              <a:t>) </a:t>
            </a:r>
            <a:endParaRPr lang="fr-FR" sz="2000" dirty="0" smtClean="0">
              <a:latin typeface="Century Gothic" pitchFamily="34" charset="0"/>
              <a:cs typeface="Century Gothic"/>
            </a:endParaRPr>
          </a:p>
          <a:p>
            <a:endParaRPr lang="fr-FR" sz="1100" dirty="0" smtClean="0">
              <a:latin typeface="Century Gothic" pitchFamily="34" charset="0"/>
              <a:cs typeface="Century Gothic"/>
            </a:endParaRPr>
          </a:p>
          <a:p>
            <a:pPr>
              <a:buNone/>
            </a:pPr>
            <a:r>
              <a:rPr lang="fr-FR" sz="2000" dirty="0" smtClean="0">
                <a:latin typeface="Century Gothic" pitchFamily="34" charset="0"/>
                <a:cs typeface="Century Gothic"/>
              </a:rPr>
              <a:t>	3- Les autres membres de chaque équipe récupèrent ce projet de </a:t>
            </a:r>
            <a:r>
              <a:rPr lang="fr-FR" sz="2000" dirty="0" err="1" smtClean="0">
                <a:latin typeface="Century Gothic" pitchFamily="34" charset="0"/>
                <a:cs typeface="Century Gothic"/>
              </a:rPr>
              <a:t>github</a:t>
            </a:r>
            <a:r>
              <a:rPr lang="fr-FR" sz="2000" dirty="0" smtClean="0">
                <a:latin typeface="Century Gothic" pitchFamily="34" charset="0"/>
                <a:cs typeface="Century Gothic"/>
              </a:rPr>
              <a:t> (et non du drive).  </a:t>
            </a:r>
            <a:endParaRPr lang="fr-FR" sz="2000" dirty="0">
              <a:latin typeface="Century Gothic" pitchFamily="34" charset="0"/>
            </a:endParaRPr>
          </a:p>
          <a:p>
            <a:endParaRPr lang="fr-FR" sz="1100" u="sng" dirty="0">
              <a:latin typeface="Century Gothic" pitchFamily="34" charset="0"/>
            </a:endParaRPr>
          </a:p>
          <a:p>
            <a:pPr>
              <a:buNone/>
            </a:pPr>
            <a:r>
              <a:rPr lang="fr-FR" sz="2000" dirty="0" smtClean="0">
                <a:latin typeface="Century Gothic" pitchFamily="34" charset="0"/>
              </a:rPr>
              <a:t>	4- Chacun créé sa propre branche et la pousse sur </a:t>
            </a:r>
            <a:r>
              <a:rPr lang="fr-FR" sz="2000" dirty="0" err="1" smtClean="0">
                <a:latin typeface="Century Gothic" pitchFamily="34" charset="0"/>
              </a:rPr>
              <a:t>github</a:t>
            </a:r>
            <a:r>
              <a:rPr lang="fr-FR" sz="2000" dirty="0" smtClean="0">
                <a:latin typeface="Century Gothic" pitchFamily="34" charset="0"/>
              </a:rPr>
              <a:t>. </a:t>
            </a:r>
            <a:endParaRPr lang="fr-FR" sz="2000" dirty="0" smtClean="0">
              <a:latin typeface="Century Gothic" pitchFamily="34" charset="0"/>
            </a:endParaRPr>
          </a:p>
          <a:p>
            <a:pPr>
              <a:buNone/>
            </a:pPr>
            <a:endParaRPr lang="fr-FR" sz="1100" dirty="0" smtClean="0">
              <a:latin typeface="Century Gothic" pitchFamily="34" charset="0"/>
            </a:endParaRPr>
          </a:p>
          <a:p>
            <a:pPr>
              <a:buNone/>
            </a:pPr>
            <a:r>
              <a:rPr lang="fr-FR" sz="2000" dirty="0" smtClean="0">
                <a:latin typeface="Century Gothic" pitchFamily="34" charset="0"/>
              </a:rPr>
              <a:t>	5- Mettez à jour le fichier XLS partagé par votre enseignant sur le </a:t>
            </a:r>
            <a:r>
              <a:rPr lang="fr-FR" sz="2000" dirty="0" err="1" smtClean="0">
                <a:latin typeface="Century Gothic" pitchFamily="34" charset="0"/>
              </a:rPr>
              <a:t>Classroom</a:t>
            </a:r>
            <a:r>
              <a:rPr lang="fr-FR" sz="2000" dirty="0" smtClean="0">
                <a:latin typeface="Century Gothic" pitchFamily="34" charset="0"/>
              </a:rPr>
              <a:t> avec la liste des membres de votre groupe. </a:t>
            </a:r>
          </a:p>
          <a:p>
            <a:endParaRPr lang="fr-FR" sz="1100" dirty="0" smtClean="0">
              <a:latin typeface="Century Gothic" pitchFamily="34" charset="0"/>
            </a:endParaRPr>
          </a:p>
          <a:p>
            <a:pPr>
              <a:buNone/>
            </a:pPr>
            <a:r>
              <a:rPr lang="fr-FR" sz="2000" dirty="0" smtClean="0">
                <a:latin typeface="Century Gothic" pitchFamily="34" charset="0"/>
              </a:rPr>
              <a:t>	6- Invitez votre enseignant sur le repository du groupe sur github.com </a:t>
            </a:r>
            <a:endParaRPr lang="fr-FR" sz="20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20667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0" y="40895"/>
            <a:ext cx="10693400" cy="956970"/>
          </a:xfrm>
          <a:prstGeom prst="rect">
            <a:avLst/>
          </a:prstGeom>
        </p:spPr>
        <p:txBody>
          <a:bodyPr vert="horz" wrap="square" lIns="0" tIns="520995" rIns="0" bIns="0" rtlCol="0">
            <a:spAutoFit/>
          </a:bodyPr>
          <a:lstStyle/>
          <a:p>
            <a:pPr marL="12605" algn="ctr" defTabSz="1008400"/>
            <a:r>
              <a:rPr lang="fr-FR" sz="2800" dirty="0" smtClean="0">
                <a:latin typeface="Century Gothic" pitchFamily="34" charset="0"/>
                <a:cs typeface="Century Gothic"/>
              </a:rPr>
              <a:t>TP2 </a:t>
            </a:r>
            <a:r>
              <a:rPr lang="fr-FR" sz="2800" dirty="0">
                <a:latin typeface="Century Gothic" pitchFamily="34" charset="0"/>
                <a:cs typeface="Century Gothic"/>
              </a:rPr>
              <a:t>: </a:t>
            </a:r>
            <a:r>
              <a:rPr lang="fr-FR" sz="2800" dirty="0" smtClean="0">
                <a:latin typeface="Century Gothic" pitchFamily="34" charset="0"/>
                <a:cs typeface="Century Gothic"/>
              </a:rPr>
              <a:t>GIT – MAVEN – JENKINS </a:t>
            </a:r>
            <a:endParaRPr lang="fr-FR" sz="2800" dirty="0">
              <a:latin typeface="Century Gothic" pitchFamily="34" charset="0"/>
              <a:cs typeface="Century Gothic"/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05882" defTabSz="1008400">
              <a:lnSpc>
                <a:spcPts val="1461"/>
              </a:lnSpc>
            </a:pPr>
            <a:fld id="{81D60167-4931-47E6-BA6A-407CBD079E47}" type="slidenum">
              <a:rPr sz="1200"/>
              <a:pPr marL="205882" defTabSz="1008400">
                <a:lnSpc>
                  <a:spcPts val="1461"/>
                </a:lnSpc>
              </a:pPr>
              <a:t>31</a:t>
            </a:fld>
            <a:endParaRPr sz="12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>
          <a:xfrm>
            <a:off x="0" y="1283393"/>
            <a:ext cx="10693400" cy="5943330"/>
          </a:xfrm>
          <a:prstGeom prst="rect">
            <a:avLst/>
          </a:prstGeom>
        </p:spPr>
        <p:txBody>
          <a:bodyPr vert="horz" lIns="100838" tIns="50419" rIns="100838" bIns="50419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Lucida Casual" pitchFamily="66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sz="2000" dirty="0" smtClean="0">
                <a:latin typeface="Century Gothic" pitchFamily="34" charset="0"/>
              </a:rPr>
              <a:t>	</a:t>
            </a:r>
            <a:endParaRPr lang="fr-FR" sz="2000" dirty="0" smtClean="0">
              <a:latin typeface="Century Gothic" pitchFamily="34" charset="0"/>
            </a:endParaRPr>
          </a:p>
          <a:p>
            <a:pPr>
              <a:buNone/>
            </a:pPr>
            <a:r>
              <a:rPr lang="fr-FR" sz="2000" dirty="0" smtClean="0">
                <a:latin typeface="Century Gothic" pitchFamily="34" charset="0"/>
              </a:rPr>
              <a:t>	7- Chacun crée un Job de type Pipeline su son Jenkins « </a:t>
            </a:r>
            <a:r>
              <a:rPr lang="fr-FR" sz="2000" b="1" dirty="0" err="1" smtClean="0">
                <a:latin typeface="Century Gothic" pitchFamily="34" charset="0"/>
              </a:rPr>
              <a:t>Prenom_NOM_CLASSE</a:t>
            </a:r>
            <a:r>
              <a:rPr lang="fr-FR" sz="2000" dirty="0" smtClean="0">
                <a:latin typeface="Century Gothic" pitchFamily="34" charset="0"/>
              </a:rPr>
              <a:t> », avec </a:t>
            </a:r>
            <a:r>
              <a:rPr lang="fr-FR" sz="2000" b="1" dirty="0" smtClean="0">
                <a:latin typeface="Century Gothic" pitchFamily="34" charset="0"/>
              </a:rPr>
              <a:t>deux étapes</a:t>
            </a:r>
            <a:r>
              <a:rPr lang="fr-FR" sz="2000" dirty="0" smtClean="0">
                <a:latin typeface="Century Gothic" pitchFamily="34" charset="0"/>
              </a:rPr>
              <a:t> : </a:t>
            </a:r>
          </a:p>
          <a:p>
            <a:pPr>
              <a:buNone/>
            </a:pPr>
            <a:endParaRPr lang="fr-FR" sz="2000" dirty="0" smtClean="0">
              <a:latin typeface="Century Gothic" pitchFamily="34" charset="0"/>
            </a:endParaRPr>
          </a:p>
          <a:p>
            <a:pPr>
              <a:buNone/>
            </a:pPr>
            <a:r>
              <a:rPr lang="fr-FR" sz="2000" b="1" dirty="0" smtClean="0">
                <a:latin typeface="Century Gothic" pitchFamily="34" charset="0"/>
              </a:rPr>
              <a:t>	</a:t>
            </a:r>
            <a:r>
              <a:rPr lang="fr-FR" sz="2000" b="1" dirty="0" smtClean="0">
                <a:latin typeface="Century Gothic" pitchFamily="34" charset="0"/>
              </a:rPr>
              <a:t>	- Récupération du code de sa propre branche </a:t>
            </a:r>
          </a:p>
          <a:p>
            <a:pPr>
              <a:buNone/>
            </a:pPr>
            <a:r>
              <a:rPr lang="fr-FR" sz="2000" b="1" dirty="0" smtClean="0">
                <a:latin typeface="Century Gothic" pitchFamily="34" charset="0"/>
              </a:rPr>
              <a:t>	</a:t>
            </a:r>
            <a:r>
              <a:rPr lang="fr-FR" sz="2000" b="1" dirty="0" smtClean="0">
                <a:latin typeface="Century Gothic" pitchFamily="34" charset="0"/>
              </a:rPr>
              <a:t>	- Lancement de la commande Maven qui nettoie le projet et le compile</a:t>
            </a:r>
          </a:p>
          <a:p>
            <a:pPr>
              <a:buNone/>
            </a:pPr>
            <a:endParaRPr lang="fr-FR" sz="2000" dirty="0" smtClean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2066718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 rtlCol="0"/>
      <a:lstStyle>
        <a:defPPr>
          <a:defRPr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2514</TotalTime>
  <Words>1463</Words>
  <Application>Microsoft Office PowerPoint</Application>
  <PresentationFormat>Personnalisé</PresentationFormat>
  <Paragraphs>354</Paragraphs>
  <Slides>31</Slides>
  <Notes>31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2_Office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cours_java.ppt</dc:title>
  <dc:creator>ad</dc:creator>
  <cp:lastModifiedBy>Mourad HASSINI</cp:lastModifiedBy>
  <cp:revision>496</cp:revision>
  <dcterms:created xsi:type="dcterms:W3CDTF">2016-10-15T13:19:30Z</dcterms:created>
  <dcterms:modified xsi:type="dcterms:W3CDTF">2023-10-02T07:56:00Z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2007-01-12T00:00:00Z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2016-10-15T00:00:00Z</vt:filetime>
  </property>
</Properties>
</file>